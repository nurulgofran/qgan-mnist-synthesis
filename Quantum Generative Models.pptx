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</p:sldIdLst>
  <p:sldSz cx="12192000" cy="6858000" type="screen4x3"/>
  <p:notesSz cx="6858000" cy="9144000"/>
  <p:embeddedFontLst>
    <p:embeddedFont>
      <p:font typeface="Inter" pitchFamily="2" charset="0"/>
      <p:regular r:id="rId11"/>
      <p:bold r:id="rId8"/>
      <p:italic r:id="rId10"/>
      <p:boldItalic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27.png"/><Relationship Id="rId9" Type="http://schemas.openxmlformats.org/officeDocument/2006/relationships/image" Target="../media/image30.png"/><Relationship Id="rId10" Type="http://schemas.openxmlformats.org/officeDocument/2006/relationships/image" Target="../media/image37.png"/><Relationship Id="rId11" Type="http://schemas.openxmlformats.org/officeDocument/2006/relationships/image" Target="../media/image23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21.png"/><Relationship Id="rId16" Type="http://schemas.openxmlformats.org/officeDocument/2006/relationships/image" Target="../media/image41.png"/><Relationship Id="rId17" Type="http://schemas.openxmlformats.org/officeDocument/2006/relationships/image" Target="../media/image42.png"/><Relationship Id="rId18" Type="http://schemas.openxmlformats.org/officeDocument/2006/relationships/image" Target="../media/image43.png"/><Relationship Id="rId19" Type="http://schemas.openxmlformats.org/officeDocument/2006/relationships/image" Target="../media/image32.png"/><Relationship Id="rId20" Type="http://schemas.openxmlformats.org/officeDocument/2006/relationships/image" Target="../media/image44.png"/><Relationship Id="rId21" Type="http://schemas.openxmlformats.org/officeDocument/2006/relationships/image" Target="../media/image4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Relationship Id="rId15" Type="http://schemas.openxmlformats.org/officeDocument/2006/relationships/image" Target="../media/image56.png"/><Relationship Id="rId16" Type="http://schemas.openxmlformats.org/officeDocument/2006/relationships/image" Target="../media/image57.png"/><Relationship Id="rId17" Type="http://schemas.openxmlformats.org/officeDocument/2006/relationships/image" Target="../media/image58.png"/><Relationship Id="rId18" Type="http://schemas.openxmlformats.org/officeDocument/2006/relationships/image" Target="../media/image59.png"/><Relationship Id="rId19" Type="http://schemas.openxmlformats.org/officeDocument/2006/relationships/image" Target="../media/image60.png"/><Relationship Id="rId20" Type="http://schemas.openxmlformats.org/officeDocument/2006/relationships/image" Target="../media/image61.png"/><Relationship Id="rId21" Type="http://schemas.openxmlformats.org/officeDocument/2006/relationships/image" Target="../media/image62.png"/><Relationship Id="rId22" Type="http://schemas.openxmlformats.org/officeDocument/2006/relationships/image" Target="../media/image63.png"/><Relationship Id="rId23" Type="http://schemas.openxmlformats.org/officeDocument/2006/relationships/image" Target="../media/image64.png"/><Relationship Id="rId24" Type="http://schemas.openxmlformats.org/officeDocument/2006/relationships/image" Target="../media/image6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Relationship Id="rId10" Type="http://schemas.openxmlformats.org/officeDocument/2006/relationships/image" Target="../media/image71.png"/><Relationship Id="rId11" Type="http://schemas.openxmlformats.org/officeDocument/2006/relationships/image" Target="../media/image72.png"/><Relationship Id="rId12" Type="http://schemas.openxmlformats.org/officeDocument/2006/relationships/image" Target="../media/image7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86.png"/><Relationship Id="rId14" Type="http://schemas.openxmlformats.org/officeDocument/2006/relationships/image" Target="../media/image87.png"/><Relationship Id="rId15" Type="http://schemas.openxmlformats.org/officeDocument/2006/relationships/image" Target="../media/image88.png"/><Relationship Id="rId16" Type="http://schemas.openxmlformats.org/officeDocument/2006/relationships/image" Target="../media/image47.png"/><Relationship Id="rId17" Type="http://schemas.openxmlformats.org/officeDocument/2006/relationships/image" Target="../media/image89.png"/><Relationship Id="rId18" Type="http://schemas.openxmlformats.org/officeDocument/2006/relationships/image" Target="../media/image90.png"/><Relationship Id="rId19" Type="http://schemas.openxmlformats.org/officeDocument/2006/relationships/image" Target="../media/image91.png"/><Relationship Id="rId20" Type="http://schemas.openxmlformats.org/officeDocument/2006/relationships/image" Target="../media/image92.png"/><Relationship Id="rId21" Type="http://schemas.openxmlformats.org/officeDocument/2006/relationships/image" Target="../media/image93.png"/><Relationship Id="rId22" Type="http://schemas.openxmlformats.org/officeDocument/2006/relationships/image" Target="../media/image94.png"/><Relationship Id="rId23" Type="http://schemas.openxmlformats.org/officeDocument/2006/relationships/image" Target="../media/image9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Relationship Id="rId10" Type="http://schemas.openxmlformats.org/officeDocument/2006/relationships/image" Target="../media/image102.png"/><Relationship Id="rId11" Type="http://schemas.openxmlformats.org/officeDocument/2006/relationships/image" Target="../media/image103.png"/><Relationship Id="rId12" Type="http://schemas.openxmlformats.org/officeDocument/2006/relationships/image" Target="../media/image104.png"/><Relationship Id="rId13" Type="http://schemas.openxmlformats.org/officeDocument/2006/relationships/image" Target="../media/image105.png"/><Relationship Id="rId14" Type="http://schemas.openxmlformats.org/officeDocument/2006/relationships/image" Target="../media/image106.png"/><Relationship Id="rId15" Type="http://schemas.openxmlformats.org/officeDocument/2006/relationships/image" Target="../media/image107.png"/><Relationship Id="rId16" Type="http://schemas.openxmlformats.org/officeDocument/2006/relationships/image" Target="../media/image108.png"/><Relationship Id="rId17" Type="http://schemas.openxmlformats.org/officeDocument/2006/relationships/image" Target="../media/image109.png"/><Relationship Id="rId18" Type="http://schemas.openxmlformats.org/officeDocument/2006/relationships/image" Target="../media/image110.png"/><Relationship Id="rId19" Type="http://schemas.openxmlformats.org/officeDocument/2006/relationships/image" Target="../media/image111.png"/><Relationship Id="rId20" Type="http://schemas.openxmlformats.org/officeDocument/2006/relationships/image" Target="../media/image112.png"/><Relationship Id="rId21" Type="http://schemas.openxmlformats.org/officeDocument/2006/relationships/image" Target="../media/image113.png"/><Relationship Id="rId22" Type="http://schemas.openxmlformats.org/officeDocument/2006/relationships/image" Target="../media/image114.png"/><Relationship Id="rId23" Type="http://schemas.openxmlformats.org/officeDocument/2006/relationships/image" Target="../media/image1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03.png"/><Relationship Id="rId10" Type="http://schemas.openxmlformats.org/officeDocument/2006/relationships/image" Target="../media/image120.png"/><Relationship Id="rId11" Type="http://schemas.openxmlformats.org/officeDocument/2006/relationships/image" Target="../media/image114.png"/><Relationship Id="rId12" Type="http://schemas.openxmlformats.org/officeDocument/2006/relationships/image" Target="../media/image121.png"/><Relationship Id="rId13" Type="http://schemas.openxmlformats.org/officeDocument/2006/relationships/image" Target="../media/image122.png"/><Relationship Id="rId14" Type="http://schemas.openxmlformats.org/officeDocument/2006/relationships/image" Target="../media/image123.png"/><Relationship Id="rId15" Type="http://schemas.openxmlformats.org/officeDocument/2006/relationships/image" Target="../media/image124.png"/><Relationship Id="rId16" Type="http://schemas.openxmlformats.org/officeDocument/2006/relationships/image" Target="../media/image125.png"/><Relationship Id="rId17" Type="http://schemas.openxmlformats.org/officeDocument/2006/relationships/image" Target="../media/image126.png"/><Relationship Id="rId18" Type="http://schemas.openxmlformats.org/officeDocument/2006/relationships/image" Target="../media/image127.png"/><Relationship Id="rId19" Type="http://schemas.openxmlformats.org/officeDocument/2006/relationships/image" Target="../media/image128.png"/><Relationship Id="rId20" Type="http://schemas.openxmlformats.org/officeDocument/2006/relationships/image" Target="../media/image1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30.png"/><Relationship Id="rId6" Type="http://schemas.openxmlformats.org/officeDocument/2006/relationships/image" Target="../media/image131.png"/><Relationship Id="rId7" Type="http://schemas.openxmlformats.org/officeDocument/2006/relationships/image" Target="../media/image132.png"/><Relationship Id="rId8" Type="http://schemas.openxmlformats.org/officeDocument/2006/relationships/image" Target="../media/image42.png"/><Relationship Id="rId9" Type="http://schemas.openxmlformats.org/officeDocument/2006/relationships/image" Target="../media/image73.png"/><Relationship Id="rId10" Type="http://schemas.openxmlformats.org/officeDocument/2006/relationships/image" Target="../media/image13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134.png"/><Relationship Id="rId14" Type="http://schemas.openxmlformats.org/officeDocument/2006/relationships/image" Target="../media/image135.png"/><Relationship Id="rId15" Type="http://schemas.openxmlformats.org/officeDocument/2006/relationships/image" Target="../media/image136.png"/><Relationship Id="rId16" Type="http://schemas.openxmlformats.org/officeDocument/2006/relationships/image" Target="../media/image137.png"/><Relationship Id="rId17" Type="http://schemas.openxmlformats.org/officeDocument/2006/relationships/image" Target="../media/image138.png"/><Relationship Id="rId18" Type="http://schemas.openxmlformats.org/officeDocument/2006/relationships/image" Target="../media/image139.png"/><Relationship Id="rId19" Type="http://schemas.openxmlformats.org/officeDocument/2006/relationships/image" Target="../media/image21.png"/><Relationship Id="rId20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4800"/>
            <a:ext cx="2286000" cy="923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1031" y="1588740"/>
            <a:ext cx="7833627" cy="11757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40" b="1" i="0">
                <a:solidFill>
                  <a:srgbClr val="004B5A"/>
                </a:solidFill>
                <a:latin typeface="Inter"/>
              </a:rPr>
              <a:t>Quantum Generative Models for</a:t>
            </a:r>
            <a:r>
              <a:rPr sz="3840" b="1" i="0">
                <a:solidFill>
                  <a:srgbClr val="004B5A"/>
                </a:solidFill>
                <a:latin typeface="Inter"/>
              </a:rPr>
              <a:t> Image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13484" y="3016299"/>
            <a:ext cx="6071711" cy="555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0" i="0">
                <a:solidFill>
                  <a:srgbClr val="004B5A">
                    <a:alpha val="80000"/>
                  </a:srgbClr>
                </a:solidFill>
                <a:latin typeface="Inter"/>
              </a:rPr>
              <a:t>A Hybrid Quantum-Classical Approach to Handwritten Digit</a:t>
            </a:r>
            <a:r>
              <a:rPr sz="1679" b="0" i="0">
                <a:solidFill>
                  <a:srgbClr val="004B5A">
                    <a:alpha val="80000"/>
                  </a:srgbClr>
                </a:solidFill>
                <a:latin typeface="Inter"/>
              </a:rPr>
              <a:t> Generation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3971925"/>
            <a:ext cx="3438525" cy="981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82021" y="4213770"/>
            <a:ext cx="566291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Author: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8194" y="4213770"/>
            <a:ext cx="122991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Md Norul Gofran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9919" y="4526160"/>
            <a:ext cx="87049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Supervisor: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6741" y="4526160"/>
            <a:ext cx="1661368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Akasha-Leonie Kessel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365" y="6391275"/>
            <a:ext cx="171450" cy="1619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25415" y="6391275"/>
            <a:ext cx="1404937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4B5A"/>
                </a:solidFill>
                <a:latin typeface="Inter"/>
              </a:rPr>
              <a:t>Universität zu Lübeck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0465" y="6400800"/>
            <a:ext cx="13335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44554" y="6391275"/>
            <a:ext cx="902493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4B5A"/>
                </a:solidFill>
                <a:latin typeface="Inter"/>
              </a:rPr>
              <a:t>January 2026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0165" y="6400800"/>
            <a:ext cx="15240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61249" y="6391275"/>
            <a:ext cx="2433935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4B5A"/>
                </a:solidFill>
                <a:latin typeface="Inter"/>
              </a:rPr>
              <a:t>Quantum Machine Learning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714500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90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37780" y="228600"/>
            <a:ext cx="5316289" cy="4000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004B5A"/>
                </a:solidFill>
                <a:latin typeface="Inter"/>
              </a:rPr>
              <a:t>Research Overview &amp; Motivation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1095375"/>
            <a:ext cx="5086350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54758" y="1331267"/>
            <a:ext cx="2091183" cy="2571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4B5A"/>
                </a:solidFill>
                <a:latin typeface="Inter"/>
              </a:rPr>
              <a:t>Research Questions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375" y="1781175"/>
            <a:ext cx="1714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69516" y="1796057"/>
            <a:ext cx="4337595" cy="4037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Feasibility:</a:t>
            </a:r>
            <a:r>
              <a:rPr sz="1200" b="0" i="0">
                <a:solidFill>
                  <a:srgbClr val="004B5A"/>
                </a:solidFill>
                <a:latin typeface="Inter"/>
              </a:rPr>
              <a:t> Can parameterized quantum circuits effectively</a:t>
            </a:r>
            <a:r>
              <a:rPr sz="1200" b="0" i="0">
                <a:solidFill>
                  <a:srgbClr val="004B5A"/>
                </a:solidFill>
                <a:latin typeface="Inter"/>
              </a:rPr>
              <a:t> serve as generative models for image synthesis?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375" y="2409825"/>
            <a:ext cx="20955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11485" y="2428279"/>
            <a:ext cx="4118371" cy="4037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Comparative Performance:</a:t>
            </a:r>
            <a:r>
              <a:rPr sz="1200" b="0" i="0">
                <a:solidFill>
                  <a:srgbClr val="004B5A"/>
                </a:solidFill>
                <a:latin typeface="Inter"/>
              </a:rPr>
              <a:t> How do QGANs compare to</a:t>
            </a:r>
            <a:r>
              <a:rPr sz="1200" b="0" i="0">
                <a:solidFill>
                  <a:srgbClr val="004B5A"/>
                </a:solidFill>
                <a:latin typeface="Inter"/>
              </a:rPr>
              <a:t> classical GANs in image quality and training dynamics?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375" y="3048000"/>
            <a:ext cx="17145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69516" y="3060501"/>
            <a:ext cx="3906738" cy="4037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Parameter Efficiency:</a:t>
            </a:r>
            <a:r>
              <a:rPr sz="1200" b="0" i="0">
                <a:solidFill>
                  <a:srgbClr val="004B5A"/>
                </a:solidFill>
                <a:latin typeface="Inter"/>
              </a:rPr>
              <a:t> What trade-offs exist between</a:t>
            </a:r>
            <a:r>
              <a:rPr sz="1200" b="0" i="0">
                <a:solidFill>
                  <a:srgbClr val="004B5A"/>
                </a:solidFill>
                <a:latin typeface="Inter"/>
              </a:rPr>
              <a:t> parameter count and output quality?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375" y="3676650"/>
            <a:ext cx="20955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11485" y="3692723"/>
            <a:ext cx="3488531" cy="4037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Circuit Design:</a:t>
            </a:r>
            <a:r>
              <a:rPr sz="1200" b="0" i="0">
                <a:solidFill>
                  <a:srgbClr val="004B5A"/>
                </a:solidFill>
                <a:latin typeface="Inter"/>
              </a:rPr>
              <a:t> How do depth, qubit count, and</a:t>
            </a:r>
            <a:r>
              <a:rPr sz="1200" b="0" i="0">
                <a:solidFill>
                  <a:srgbClr val="004B5A"/>
                </a:solidFill>
                <a:latin typeface="Inter"/>
              </a:rPr>
              <a:t> entanglement strategies affect sample quality?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095375"/>
            <a:ext cx="5086350" cy="3886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39521" y="1331267"/>
            <a:ext cx="1904107" cy="2571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4B5A"/>
                </a:solidFill>
                <a:latin typeface="Inter"/>
              </a:rPr>
              <a:t>Project Motivation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525" y="1781175"/>
            <a:ext cx="17145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60666" y="1796057"/>
            <a:ext cx="4143375" cy="61704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Quantum Advantage:</a:t>
            </a:r>
            <a:r>
              <a:rPr sz="1200" b="0" i="0">
                <a:solidFill>
                  <a:srgbClr val="004B5A"/>
                </a:solidFill>
                <a:latin typeface="Inter"/>
              </a:rPr>
              <a:t> Leverage exponential</a:t>
            </a:r>
            <a:r>
              <a:rPr sz="1200" b="0" i="0">
                <a:solidFill>
                  <a:srgbClr val="004B5A"/>
                </a:solidFill>
                <a:latin typeface="Inter"/>
              </a:rPr>
              <a:t> representational capacity of quantum states for complex</a:t>
            </a:r>
            <a:r>
              <a:rPr sz="1200" b="0" i="0">
                <a:solidFill>
                  <a:srgbClr val="004B5A"/>
                </a:solidFill>
                <a:latin typeface="Inter"/>
              </a:rPr>
              <a:t> probability distributions.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6525" y="2638425"/>
            <a:ext cx="171450" cy="1809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60666" y="2641550"/>
            <a:ext cx="4221658" cy="61704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Parameter Efficiency:</a:t>
            </a:r>
            <a:r>
              <a:rPr sz="1200" b="0" i="0">
                <a:solidFill>
                  <a:srgbClr val="004B5A"/>
                </a:solidFill>
                <a:latin typeface="Inter"/>
              </a:rPr>
              <a:t> Explore potential for modeling with</a:t>
            </a:r>
            <a:r>
              <a:rPr sz="1200" b="0" i="0">
                <a:solidFill>
                  <a:srgbClr val="004B5A"/>
                </a:solidFill>
                <a:latin typeface="Inter"/>
              </a:rPr>
              <a:t> exponentially fewer parameters through quantum</a:t>
            </a:r>
            <a:r>
              <a:rPr sz="1200" b="0" i="0">
                <a:solidFill>
                  <a:srgbClr val="004B5A"/>
                </a:solidFill>
                <a:latin typeface="Inter"/>
              </a:rPr>
              <a:t> superposition.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6525" y="3486150"/>
            <a:ext cx="171450" cy="1809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60666" y="3487042"/>
            <a:ext cx="4363045" cy="4037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Training Stability:</a:t>
            </a:r>
            <a:r>
              <a:rPr sz="1200" b="0" i="0">
                <a:solidFill>
                  <a:srgbClr val="004B5A"/>
                </a:solidFill>
                <a:latin typeface="Inter"/>
              </a:rPr>
              <a:t> Investigate quantum parameter-shift rule</a:t>
            </a:r>
            <a:r>
              <a:rPr sz="1200" b="0" i="0">
                <a:solidFill>
                  <a:srgbClr val="004B5A"/>
                </a:solidFill>
                <a:latin typeface="Inter"/>
              </a:rPr>
              <a:t> for exact gradient computation.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6525" y="4114800"/>
            <a:ext cx="171450" cy="1809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60666" y="4119264"/>
            <a:ext cx="3893492" cy="4037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Sample Diversity:</a:t>
            </a:r>
            <a:r>
              <a:rPr sz="1200" b="0" i="0">
                <a:solidFill>
                  <a:srgbClr val="004B5A"/>
                </a:solidFill>
                <a:latin typeface="Inter"/>
              </a:rPr>
              <a:t> Utilize quantum entanglement and</a:t>
            </a:r>
            <a:r>
              <a:rPr sz="1200" b="0" i="0">
                <a:solidFill>
                  <a:srgbClr val="004B5A"/>
                </a:solidFill>
                <a:latin typeface="Inter"/>
              </a:rPr>
              <a:t> interference for enhanced output exploration.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7250" y="5200650"/>
            <a:ext cx="10477500" cy="136207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67721" y="5363021"/>
            <a:ext cx="2456557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4B5A"/>
                </a:solidFill>
                <a:latin typeface="Inter"/>
              </a:rPr>
              <a:t>Experimental Configuration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9175" y="5715000"/>
            <a:ext cx="2428875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045493" y="5844926"/>
            <a:ext cx="371326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4B5A"/>
                </a:solidFill>
                <a:latin typeface="Inter"/>
              </a:rPr>
              <a:t>4</a:t>
            </a:r>
            <a:r>
              <a:rPr sz="1439" b="1" i="0">
                <a:solidFill>
                  <a:srgbClr val="004B5A"/>
                </a:solidFill>
                <a:latin typeface="Microsoft YaHei"/>
              </a:rPr>
              <a:t>×</a:t>
            </a:r>
            <a:r>
              <a:rPr sz="1439" b="1" i="0">
                <a:solidFill>
                  <a:srgbClr val="004B5A"/>
                </a:solidFill>
                <a:latin typeface="Inte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6526" y="6119217"/>
            <a:ext cx="98940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4B5A"/>
                </a:solidFill>
                <a:latin typeface="Inter"/>
              </a:rPr>
              <a:t>Image Resolution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00450" y="5715000"/>
            <a:ext cx="2428875" cy="685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55480" y="5844926"/>
            <a:ext cx="504378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4B5A"/>
                </a:solidFill>
                <a:latin typeface="Inter"/>
              </a:rPr>
              <a:t>1,000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2146" y="6119217"/>
            <a:ext cx="99119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4B5A"/>
                </a:solidFill>
                <a:latin typeface="Inter"/>
              </a:rPr>
              <a:t>Training Samples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72200" y="5715000"/>
            <a:ext cx="2428875" cy="685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265789" y="5844926"/>
            <a:ext cx="236934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4B5A"/>
                </a:solidFill>
                <a:latin typeface="Inter"/>
              </a:rPr>
              <a:t>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1549" y="6119217"/>
            <a:ext cx="92526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4B5A"/>
                </a:solidFill>
                <a:latin typeface="Inter"/>
              </a:rPr>
              <a:t>Training Epochs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53475" y="5715000"/>
            <a:ext cx="2428875" cy="6858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898856" y="5844926"/>
            <a:ext cx="123676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4B5A"/>
                </a:solidFill>
                <a:latin typeface="Inter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7004" y="6119217"/>
            <a:ext cx="70752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4B5A"/>
                </a:solidFill>
                <a:latin typeface="Inter"/>
              </a:rPr>
              <a:t>Qubits Used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714500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90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53953" y="228600"/>
            <a:ext cx="6083944" cy="4000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004B5A"/>
                </a:solidFill>
                <a:latin typeface="Inter"/>
              </a:rPr>
              <a:t>QGAN Architecture &amp; Implementation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19175"/>
            <a:ext cx="5486400" cy="5610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70658" y="1257300"/>
            <a:ext cx="2059483" cy="2571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4B5A"/>
                </a:solidFill>
                <a:latin typeface="Inter"/>
              </a:rPr>
              <a:t>Quantum Generator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1724025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4285" y="1722090"/>
            <a:ext cx="4223355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4B5A"/>
                </a:solidFill>
                <a:latin typeface="Inter"/>
              </a:rPr>
              <a:t>Parameterized Quantum Circuit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with 4 qubits for 4</a:t>
            </a:r>
            <a:r>
              <a:rPr sz="1139" b="0" i="0">
                <a:solidFill>
                  <a:srgbClr val="004B5A"/>
                </a:solidFill>
                <a:latin typeface="Microsoft YaHei"/>
              </a:rPr>
              <a:t>×</a:t>
            </a:r>
            <a:r>
              <a:rPr sz="1139" b="0" i="0">
                <a:solidFill>
                  <a:srgbClr val="004B5A"/>
                </a:solidFill>
                <a:latin typeface="Inter"/>
              </a:rPr>
              <a:t>4 image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generation.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2314575"/>
            <a:ext cx="15240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4285" y="2325439"/>
            <a:ext cx="4001006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4B5A"/>
                </a:solidFill>
                <a:latin typeface="Inter"/>
              </a:rPr>
              <a:t>2 variational layers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with rotation-entanglement structure.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724150"/>
            <a:ext cx="1905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2385" y="2726084"/>
            <a:ext cx="4168586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004B5A"/>
                </a:solidFill>
                <a:latin typeface="Inter"/>
              </a:rPr>
              <a:t>Each layer: </a:t>
            </a:r>
            <a:r>
              <a:rPr sz="1139" b="1" i="0">
                <a:solidFill>
                  <a:srgbClr val="004B5A"/>
                </a:solidFill>
                <a:latin typeface="Inter"/>
              </a:rPr>
              <a:t> Ry(z) encoding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+ 3 trainable rotations per qubit.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3124200"/>
            <a:ext cx="1905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2385" y="3126730"/>
            <a:ext cx="4291369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4B5A"/>
                </a:solidFill>
                <a:latin typeface="Inter"/>
              </a:rPr>
              <a:t>Linear entanglement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chain: q0</a:t>
            </a:r>
            <a:r>
              <a:rPr sz="1139" b="0" i="0">
                <a:solidFill>
                  <a:srgbClr val="004B5A"/>
                </a:solidFill>
                <a:latin typeface="Cambria Math"/>
              </a:rPr>
              <a:t>→</a:t>
            </a:r>
            <a:r>
              <a:rPr sz="1139" b="0" i="0">
                <a:solidFill>
                  <a:srgbClr val="004B5A"/>
                </a:solidFill>
                <a:latin typeface="Inter"/>
              </a:rPr>
              <a:t>q1</a:t>
            </a:r>
            <a:r>
              <a:rPr sz="1139" b="0" i="0">
                <a:solidFill>
                  <a:srgbClr val="004B5A"/>
                </a:solidFill>
                <a:latin typeface="Cambria Math"/>
              </a:rPr>
              <a:t>→</a:t>
            </a:r>
            <a:r>
              <a:rPr sz="1139" b="0" i="0">
                <a:solidFill>
                  <a:srgbClr val="004B5A"/>
                </a:solidFill>
                <a:latin typeface="Inter"/>
              </a:rPr>
              <a:t>q2</a:t>
            </a:r>
            <a:r>
              <a:rPr sz="1139" b="0" i="0">
                <a:solidFill>
                  <a:srgbClr val="004B5A"/>
                </a:solidFill>
                <a:latin typeface="Cambria Math"/>
              </a:rPr>
              <a:t>→</a:t>
            </a:r>
            <a:r>
              <a:rPr sz="1139" b="0" i="0">
                <a:solidFill>
                  <a:srgbClr val="004B5A"/>
                </a:solidFill>
                <a:latin typeface="Inter"/>
              </a:rPr>
              <a:t>q3 via CNOT gates.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325" y="3514725"/>
            <a:ext cx="5010150" cy="12001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7250" y="3679924"/>
            <a:ext cx="1056977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Times New Roman"/>
              </a:rPr>
              <a:t>Total Parameters: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6479" y="3679924"/>
            <a:ext cx="137070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Times New Roman"/>
              </a:rP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3918049"/>
            <a:ext cx="441870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Times New Roman"/>
              </a:rPr>
              <a:t>Qubits: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4940" y="3918049"/>
            <a:ext cx="68609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Times New Roman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4156174"/>
            <a:ext cx="854124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Times New Roman"/>
              </a:rPr>
              <a:t>Circuit Depth: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0517" y="4156174"/>
            <a:ext cx="453032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Times New Roman"/>
              </a:rPr>
              <a:t>2 layers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4394299"/>
            <a:ext cx="1131093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Times New Roman"/>
              </a:rPr>
              <a:t>Output Dimension: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7087" y="4394299"/>
            <a:ext cx="506462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Times New Roman"/>
              </a:rPr>
              <a:t>16 pixels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325" y="5276850"/>
            <a:ext cx="5010150" cy="762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86011" y="5404693"/>
            <a:ext cx="358110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004B5A"/>
                </a:solidFill>
                <a:latin typeface="Courier New"/>
              </a:rPr>
              <a:t>q0: ─Ry(z₀)─Rz(</a:t>
            </a:r>
            <a:r>
              <a:rPr sz="839" b="0" i="0">
                <a:solidFill>
                  <a:srgbClr val="004B5A"/>
                </a:solidFill>
                <a:latin typeface="Cambria Math"/>
              </a:rPr>
              <a:t>θ</a:t>
            </a:r>
            <a:r>
              <a:rPr sz="839" b="0" i="0">
                <a:solidFill>
                  <a:srgbClr val="004B5A"/>
                </a:solidFill>
                <a:latin typeface="Courier New"/>
              </a:rPr>
              <a:t>₀)─Ry(</a:t>
            </a:r>
            <a:r>
              <a:rPr sz="839" b="0" i="0">
                <a:solidFill>
                  <a:srgbClr val="004B5A"/>
                </a:solidFill>
                <a:latin typeface="Cambria Math"/>
              </a:rPr>
              <a:t>θ</a:t>
            </a:r>
            <a:r>
              <a:rPr sz="839" b="0" i="0">
                <a:solidFill>
                  <a:srgbClr val="004B5A"/>
                </a:solidFill>
                <a:latin typeface="Courier New"/>
              </a:rPr>
              <a:t>₁)─Rz(</a:t>
            </a:r>
            <a:r>
              <a:rPr sz="839" b="0" i="0">
                <a:solidFill>
                  <a:srgbClr val="004B5A"/>
                </a:solidFill>
                <a:latin typeface="Cambria Math"/>
              </a:rPr>
              <a:t>θ</a:t>
            </a:r>
            <a:r>
              <a:rPr sz="839" b="0" i="0">
                <a:solidFill>
                  <a:srgbClr val="004B5A"/>
                </a:solidFill>
                <a:latin typeface="Courier New"/>
              </a:rPr>
              <a:t>₂)─●─────[Layer 2]─●─────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6964" y="5404693"/>
            <a:ext cx="12799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004B5A"/>
                </a:solidFill>
                <a:latin typeface="Courier New"/>
              </a:rPr>
              <a:t>│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4808" y="5404693"/>
            <a:ext cx="319980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004B5A"/>
                </a:solidFill>
                <a:latin typeface="Courier New"/>
              </a:rPr>
              <a:t>│ q1: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3854" y="5518993"/>
            <a:ext cx="3325266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004B5A"/>
                </a:solidFill>
                <a:latin typeface="Courier New"/>
              </a:rPr>
              <a:t>─Ry(z₁)─Rz(</a:t>
            </a:r>
            <a:r>
              <a:rPr sz="839" b="0" i="0">
                <a:solidFill>
                  <a:srgbClr val="004B5A"/>
                </a:solidFill>
                <a:latin typeface="Cambria Math"/>
              </a:rPr>
              <a:t>θ</a:t>
            </a:r>
            <a:r>
              <a:rPr sz="839" b="0" i="0">
                <a:solidFill>
                  <a:srgbClr val="004B5A"/>
                </a:solidFill>
                <a:latin typeface="Courier New"/>
              </a:rPr>
              <a:t>₃)─Ry(</a:t>
            </a:r>
            <a:r>
              <a:rPr sz="839" b="0" i="0">
                <a:solidFill>
                  <a:srgbClr val="004B5A"/>
                </a:solidFill>
                <a:latin typeface="Cambria Math"/>
              </a:rPr>
              <a:t>θ</a:t>
            </a:r>
            <a:r>
              <a:rPr sz="839" b="0" i="0">
                <a:solidFill>
                  <a:srgbClr val="004B5A"/>
                </a:solidFill>
                <a:latin typeface="Courier New"/>
              </a:rPr>
              <a:t>₄)─Rz(</a:t>
            </a:r>
            <a:r>
              <a:rPr sz="839" b="0" i="0">
                <a:solidFill>
                  <a:srgbClr val="004B5A"/>
                </a:solidFill>
                <a:latin typeface="Cambria Math"/>
              </a:rPr>
              <a:t>θ</a:t>
            </a:r>
            <a:r>
              <a:rPr sz="839" b="0" i="0">
                <a:solidFill>
                  <a:srgbClr val="004B5A"/>
                </a:solidFill>
                <a:latin typeface="Courier New"/>
              </a:rPr>
              <a:t>₅)─X─●───[Layer 2]─X─●───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8972" y="5518993"/>
            <a:ext cx="12814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004B5A"/>
                </a:solidFill>
                <a:latin typeface="Courier New"/>
              </a:rPr>
              <a:t>│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66964" y="5518993"/>
            <a:ext cx="31983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004B5A"/>
                </a:solidFill>
                <a:latin typeface="Courier New"/>
              </a:rPr>
              <a:t>│ q2: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3854" y="5633293"/>
            <a:ext cx="3325266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004B5A"/>
                </a:solidFill>
                <a:latin typeface="Courier New"/>
              </a:rPr>
              <a:t>─Ry(z₂)─Rz(</a:t>
            </a:r>
            <a:r>
              <a:rPr sz="839" b="0" i="0">
                <a:solidFill>
                  <a:srgbClr val="004B5A"/>
                </a:solidFill>
                <a:latin typeface="Cambria Math"/>
              </a:rPr>
              <a:t>θ</a:t>
            </a:r>
            <a:r>
              <a:rPr sz="839" b="0" i="0">
                <a:solidFill>
                  <a:srgbClr val="004B5A"/>
                </a:solidFill>
                <a:latin typeface="Courier New"/>
              </a:rPr>
              <a:t>₆)─Ry(</a:t>
            </a:r>
            <a:r>
              <a:rPr sz="839" b="0" i="0">
                <a:solidFill>
                  <a:srgbClr val="004B5A"/>
                </a:solidFill>
                <a:latin typeface="Cambria Math"/>
              </a:rPr>
              <a:t>θ</a:t>
            </a:r>
            <a:r>
              <a:rPr sz="839" b="0" i="0">
                <a:solidFill>
                  <a:srgbClr val="004B5A"/>
                </a:solidFill>
                <a:latin typeface="Courier New"/>
              </a:rPr>
              <a:t>₇)─Rz(</a:t>
            </a:r>
            <a:r>
              <a:rPr sz="839" b="0" i="0">
                <a:solidFill>
                  <a:srgbClr val="004B5A"/>
                </a:solidFill>
                <a:latin typeface="Cambria Math"/>
              </a:rPr>
              <a:t>θ</a:t>
            </a:r>
            <a:r>
              <a:rPr sz="839" b="0" i="0">
                <a:solidFill>
                  <a:srgbClr val="004B5A"/>
                </a:solidFill>
                <a:latin typeface="Courier New"/>
              </a:rPr>
              <a:t>₈)───X─●─[Layer 2]───X─●─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8972" y="5633293"/>
            <a:ext cx="12814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004B5A"/>
                </a:solidFill>
                <a:latin typeface="Courier New"/>
              </a:rPr>
              <a:t>│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6964" y="5633293"/>
            <a:ext cx="31983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004B5A"/>
                </a:solidFill>
                <a:latin typeface="Courier New"/>
              </a:rPr>
              <a:t>│ q3: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69690" y="5747593"/>
            <a:ext cx="3261419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004B5A"/>
                </a:solidFill>
                <a:latin typeface="Courier New"/>
              </a:rPr>
              <a:t>─Ry(z₃)─Rz(</a:t>
            </a:r>
            <a:r>
              <a:rPr sz="839" b="0" i="0">
                <a:solidFill>
                  <a:srgbClr val="004B5A"/>
                </a:solidFill>
                <a:latin typeface="Cambria Math"/>
              </a:rPr>
              <a:t>θ</a:t>
            </a:r>
            <a:r>
              <a:rPr sz="839" b="0" i="0">
                <a:solidFill>
                  <a:srgbClr val="004B5A"/>
                </a:solidFill>
                <a:latin typeface="Courier New"/>
              </a:rPr>
              <a:t>₉)─Ry(</a:t>
            </a:r>
            <a:r>
              <a:rPr sz="839" b="0" i="0">
                <a:solidFill>
                  <a:srgbClr val="004B5A"/>
                </a:solidFill>
                <a:latin typeface="Cambria Math"/>
              </a:rPr>
              <a:t>θ</a:t>
            </a:r>
            <a:r>
              <a:rPr sz="839" b="0" i="0">
                <a:solidFill>
                  <a:srgbClr val="004B5A"/>
                </a:solidFill>
                <a:latin typeface="Courier New"/>
              </a:rPr>
              <a:t>₁₀)─Rz(</a:t>
            </a:r>
            <a:r>
              <a:rPr sz="839" b="0" i="0">
                <a:solidFill>
                  <a:srgbClr val="004B5A"/>
                </a:solidFill>
                <a:latin typeface="Cambria Math"/>
              </a:rPr>
              <a:t>θ</a:t>
            </a:r>
            <a:r>
              <a:rPr sz="839" b="0" i="0">
                <a:solidFill>
                  <a:srgbClr val="004B5A"/>
                </a:solidFill>
                <a:latin typeface="Courier New"/>
              </a:rPr>
              <a:t>₁₁)──X──[Layer 2]────X──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019175"/>
            <a:ext cx="5486400" cy="561022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91152" y="1257300"/>
            <a:ext cx="2400895" cy="2571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4B5A"/>
                </a:solidFill>
                <a:latin typeface="Inter"/>
              </a:rPr>
              <a:t>Classical Discriminator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6525" y="1724025"/>
            <a:ext cx="152400" cy="1524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45485" y="1722090"/>
            <a:ext cx="3712577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4B5A"/>
                </a:solidFill>
                <a:latin typeface="Inter"/>
              </a:rPr>
              <a:t>Multi-layer Perceptron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with 3 fully connected layers.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6525" y="2124075"/>
            <a:ext cx="133350" cy="152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26435" y="2122735"/>
            <a:ext cx="4316819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004B5A"/>
                </a:solidFill>
                <a:latin typeface="Inter"/>
              </a:rPr>
              <a:t>Architecture: </a:t>
            </a:r>
            <a:r>
              <a:rPr sz="1139" b="1" i="0">
                <a:solidFill>
                  <a:srgbClr val="004B5A"/>
                </a:solidFill>
                <a:latin typeface="Inter"/>
              </a:rPr>
              <a:t> Input(16) </a:t>
            </a:r>
            <a:r>
              <a:rPr sz="1139" b="1" i="0">
                <a:solidFill>
                  <a:srgbClr val="004B5A"/>
                </a:solidFill>
                <a:latin typeface="Cambria Math"/>
              </a:rPr>
              <a:t>→ </a:t>
            </a:r>
            <a:r>
              <a:rPr sz="1139" b="1" i="0">
                <a:solidFill>
                  <a:srgbClr val="004B5A"/>
                </a:solidFill>
                <a:latin typeface="Inter"/>
              </a:rPr>
              <a:t>Linear(32) </a:t>
            </a:r>
            <a:r>
              <a:rPr sz="1139" b="1" i="0">
                <a:solidFill>
                  <a:srgbClr val="004B5A"/>
                </a:solidFill>
                <a:latin typeface="Cambria Math"/>
              </a:rPr>
              <a:t>→ </a:t>
            </a:r>
            <a:r>
              <a:rPr sz="1139" b="1" i="0">
                <a:solidFill>
                  <a:srgbClr val="004B5A"/>
                </a:solidFill>
                <a:latin typeface="Inter"/>
              </a:rPr>
              <a:t>Linear(16) </a:t>
            </a:r>
            <a:r>
              <a:rPr sz="1139" b="1" i="0">
                <a:solidFill>
                  <a:srgbClr val="004B5A"/>
                </a:solidFill>
                <a:latin typeface="Cambria Math"/>
              </a:rPr>
              <a:t>→ </a:t>
            </a:r>
            <a:r>
              <a:rPr sz="1139" b="1" i="0">
                <a:solidFill>
                  <a:srgbClr val="004B5A"/>
                </a:solidFill>
                <a:latin typeface="Inter"/>
              </a:rPr>
              <a:t>Linear(1)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2514600"/>
            <a:ext cx="133350" cy="1714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07385" y="2523380"/>
            <a:ext cx="4226034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004B5A"/>
                </a:solidFill>
                <a:latin typeface="Inter"/>
              </a:rPr>
              <a:t>Activation: </a:t>
            </a:r>
            <a:r>
              <a:rPr sz="1139" b="1" i="0">
                <a:solidFill>
                  <a:srgbClr val="004B5A"/>
                </a:solidFill>
                <a:latin typeface="Inter"/>
              </a:rPr>
              <a:t> LeakyReLU(0.2)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with Dropout(0.3) regularization.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6525" y="2924175"/>
            <a:ext cx="152400" cy="1524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745485" y="2924026"/>
            <a:ext cx="3577441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004B5A"/>
                </a:solidFill>
                <a:latin typeface="Inter"/>
              </a:rPr>
              <a:t>Output: </a:t>
            </a:r>
            <a:r>
              <a:rPr sz="1139" b="1" i="0">
                <a:solidFill>
                  <a:srgbClr val="004B5A"/>
                </a:solidFill>
                <a:latin typeface="Inter"/>
              </a:rPr>
              <a:t> Sigmoid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activation for binary classification.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525" y="3314700"/>
            <a:ext cx="5010150" cy="120015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648450" y="3477220"/>
            <a:ext cx="1056977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Times New Roman"/>
              </a:rPr>
              <a:t>Total Parameters: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26229" y="3477220"/>
            <a:ext cx="308520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Times New Roman"/>
              </a:rPr>
              <a:t>1,233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48450" y="3715345"/>
            <a:ext cx="917674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Times New Roman"/>
              </a:rPr>
              <a:t>Hidden Layers: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00767" y="3715345"/>
            <a:ext cx="433982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Times New Roman"/>
              </a:rPr>
              <a:t>[32, 16]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8450" y="3953470"/>
            <a:ext cx="846534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Times New Roman"/>
              </a:rPr>
              <a:t>Dropout Rate: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63300" y="3953470"/>
            <a:ext cx="171450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Times New Roman"/>
              </a:rPr>
              <a:t>0.3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48450" y="4191595"/>
            <a:ext cx="894754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Times New Roman"/>
              </a:rPr>
              <a:t>Learning Rate: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26229" y="4191595"/>
            <a:ext cx="308520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Times New Roman"/>
              </a:rPr>
              <a:t>0.001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6525" y="5000625"/>
            <a:ext cx="152400" cy="1524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745485" y="4996011"/>
            <a:ext cx="4267706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4B5A"/>
                </a:solidFill>
                <a:latin typeface="Inter"/>
              </a:rPr>
              <a:t>Adversarial Training: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Alternating discriminator and generator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updates.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6525" y="5600700"/>
            <a:ext cx="190500" cy="1524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783585" y="5599360"/>
            <a:ext cx="4465945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4B5A"/>
                </a:solidFill>
                <a:latin typeface="Inter"/>
              </a:rPr>
              <a:t>Loss Function: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Binary Cross-Entropy with label smoothing (0.9).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86525" y="6000750"/>
            <a:ext cx="152400" cy="1524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745485" y="6000005"/>
            <a:ext cx="3837146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4B5A"/>
                </a:solidFill>
                <a:latin typeface="Inter"/>
              </a:rPr>
              <a:t>Gradient Clipping: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Max norm = 1.0 for training stability.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714500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90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7887" y="228600"/>
            <a:ext cx="4556224" cy="4000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004B5A"/>
                </a:solidFill>
                <a:latin typeface="Inter"/>
              </a:rPr>
              <a:t>Classical vs Quantum GANs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838200"/>
            <a:ext cx="5086350" cy="5934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1076325"/>
            <a:ext cx="4610100" cy="3524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64742" y="1076325"/>
            <a:ext cx="1471017" cy="2571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4B5A"/>
                </a:solidFill>
                <a:latin typeface="Inter"/>
              </a:rPr>
              <a:t>Classical GAN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1609725"/>
            <a:ext cx="4610100" cy="8667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1752600"/>
            <a:ext cx="1524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70545" y="1742926"/>
            <a:ext cx="1756171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Inter"/>
              </a:rPr>
              <a:t>Neural Network 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0545" y="1935212"/>
            <a:ext cx="3604111" cy="3012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4B5A"/>
                </a:solidFill>
                <a:latin typeface="Inter"/>
              </a:rPr>
              <a:t>Multi-layer perceptron with </a:t>
            </a:r>
            <a:r>
              <a:rPr sz="960" b="1" i="0">
                <a:solidFill>
                  <a:srgbClr val="004B5A"/>
                </a:solidFill>
                <a:latin typeface="Inter"/>
              </a:rPr>
              <a:t> 1,872 parameters</a:t>
            </a:r>
            <a:r>
              <a:rPr sz="960" b="0" i="0">
                <a:solidFill>
                  <a:srgbClr val="004B5A"/>
                </a:solidFill>
                <a:latin typeface="Inter"/>
              </a:rPr>
              <a:t> using nonlinear</a:t>
            </a:r>
            <a:r>
              <a:rPr sz="960" b="0" i="0">
                <a:solidFill>
                  <a:srgbClr val="004B5A"/>
                </a:solidFill>
                <a:latin typeface="Inter"/>
              </a:rPr>
              <a:t> activations and batch normalization.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2619375"/>
            <a:ext cx="4610100" cy="8667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762250"/>
            <a:ext cx="1524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70545" y="2756296"/>
            <a:ext cx="925413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Inter"/>
              </a:rPr>
              <a:t>Image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0545" y="2948582"/>
            <a:ext cx="3575685" cy="142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4B5A"/>
                </a:solidFill>
                <a:latin typeface="Inter"/>
              </a:rPr>
              <a:t>Superior FID score of </a:t>
            </a:r>
            <a:r>
              <a:rPr sz="960" b="1" i="0">
                <a:solidFill>
                  <a:srgbClr val="004B5A"/>
                </a:solidFill>
                <a:latin typeface="Inter"/>
              </a:rPr>
              <a:t> 0.78</a:t>
            </a:r>
            <a:r>
              <a:rPr sz="960" b="0" i="0">
                <a:solidFill>
                  <a:srgbClr val="004B5A"/>
                </a:solidFill>
                <a:latin typeface="Inter"/>
              </a:rPr>
              <a:t> with sharp, high-contrast outputs.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3025" y="3105150"/>
            <a:ext cx="666750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22945" y="3137296"/>
            <a:ext cx="51479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04B5A"/>
                </a:solidFill>
                <a:latin typeface="Times New Roman"/>
              </a:rPr>
              <a:t>WINNER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3638550"/>
            <a:ext cx="4610100" cy="8667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700" y="3781425"/>
            <a:ext cx="1905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08645" y="3769667"/>
            <a:ext cx="1247477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Inter"/>
              </a:rPr>
              <a:t>Training Dynamics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8645" y="3961953"/>
            <a:ext cx="3909952" cy="142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4B5A"/>
                </a:solidFill>
                <a:latin typeface="Inter"/>
              </a:rPr>
              <a:t>Characteristic adversarial oscillations with loss variance of </a:t>
            </a:r>
            <a:r>
              <a:rPr sz="960" b="1" i="0">
                <a:solidFill>
                  <a:srgbClr val="004B5A"/>
                </a:solidFill>
                <a:latin typeface="Inter"/>
              </a:rPr>
              <a:t> 0.0154</a:t>
            </a:r>
            <a:r>
              <a:rPr sz="960" b="0" i="0">
                <a:solidFill>
                  <a:srgbClr val="004B5A"/>
                </a:solidFill>
                <a:latin typeface="Inter"/>
              </a:rPr>
              <a:t> 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4648200"/>
            <a:ext cx="4610100" cy="8667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8700" y="4791075"/>
            <a:ext cx="15240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70545" y="4783038"/>
            <a:ext cx="100726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Inter"/>
              </a:rPr>
              <a:t>Training Speed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0545" y="4975324"/>
            <a:ext cx="3971270" cy="142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4B5A"/>
                </a:solidFill>
                <a:latin typeface="Inter"/>
              </a:rPr>
              <a:t>Fast convergence in </a:t>
            </a:r>
            <a:r>
              <a:rPr sz="960" b="1" i="0">
                <a:solidFill>
                  <a:srgbClr val="004B5A"/>
                </a:solidFill>
                <a:latin typeface="Inter"/>
              </a:rPr>
              <a:t> 5.75 seconds</a:t>
            </a:r>
            <a:r>
              <a:rPr sz="960" b="0" i="0">
                <a:solidFill>
                  <a:srgbClr val="004B5A"/>
                </a:solidFill>
                <a:latin typeface="Inter"/>
              </a:rPr>
              <a:t> with optimized backpropagation.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3025" y="5133975"/>
            <a:ext cx="666750" cy="2000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22945" y="5164038"/>
            <a:ext cx="51479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04B5A"/>
                </a:solidFill>
                <a:latin typeface="Times New Roman"/>
              </a:rPr>
              <a:t>WINNER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5667375"/>
            <a:ext cx="4610100" cy="8667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8700" y="5810250"/>
            <a:ext cx="171450" cy="152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289595" y="5796408"/>
            <a:ext cx="701724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Inter"/>
              </a:rPr>
              <a:t>Scalability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9595" y="5988694"/>
            <a:ext cx="3660963" cy="3012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4B5A"/>
                </a:solidFill>
                <a:latin typeface="Inter"/>
              </a:rPr>
              <a:t>Linear scaling with problem size, well-established optimization</a:t>
            </a:r>
            <a:r>
              <a:rPr sz="960" b="0" i="0">
                <a:solidFill>
                  <a:srgbClr val="004B5A"/>
                </a:solidFill>
                <a:latin typeface="Inter"/>
              </a:rPr>
              <a:t> techniques.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450" y="838200"/>
            <a:ext cx="5086350" cy="59340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4575" y="1076325"/>
            <a:ext cx="4610100" cy="35242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686526" y="1076325"/>
            <a:ext cx="1486197" cy="2571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4B5A"/>
                </a:solidFill>
                <a:latin typeface="Inter"/>
              </a:rPr>
              <a:t>Quantum GAN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24575" y="1609725"/>
            <a:ext cx="4610100" cy="7810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57925" y="1752600"/>
            <a:ext cx="152400" cy="1524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99770" y="1742926"/>
            <a:ext cx="1800373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Inter"/>
              </a:rPr>
              <a:t>Quantum Circuit Generator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9770" y="1935212"/>
            <a:ext cx="3920073" cy="3012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4B5A"/>
                </a:solidFill>
                <a:latin typeface="Inter"/>
              </a:rPr>
              <a:t>Parameterized quantum circuit with only </a:t>
            </a:r>
            <a:r>
              <a:rPr sz="960" b="1" i="0">
                <a:solidFill>
                  <a:srgbClr val="004B5A"/>
                </a:solidFill>
                <a:latin typeface="Inter"/>
              </a:rPr>
              <a:t> 24 parameters</a:t>
            </a:r>
            <a:r>
              <a:rPr sz="960" b="0" i="0">
                <a:solidFill>
                  <a:srgbClr val="004B5A"/>
                </a:solidFill>
                <a:latin typeface="Inter"/>
              </a:rPr>
              <a:t> leveraging</a:t>
            </a:r>
            <a:r>
              <a:rPr sz="960" b="0" i="0">
                <a:solidFill>
                  <a:srgbClr val="004B5A"/>
                </a:solidFill>
                <a:latin typeface="Inter"/>
              </a:rPr>
              <a:t> superposition and entanglement.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24575" y="2533650"/>
            <a:ext cx="4610100" cy="8191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2676525"/>
            <a:ext cx="171450" cy="1524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499770" y="2667148"/>
            <a:ext cx="1396156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Inter"/>
              </a:rPr>
              <a:t>Parameter Efficiency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9770" y="2859434"/>
            <a:ext cx="4118758" cy="142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04B5A"/>
                </a:solidFill>
                <a:latin typeface="Inter"/>
              </a:rPr>
              <a:t>78</a:t>
            </a:r>
            <a:r>
              <a:rPr sz="960" b="1" i="0">
                <a:solidFill>
                  <a:srgbClr val="004B5A"/>
                </a:solidFill>
                <a:latin typeface="Microsoft YaHei"/>
              </a:rPr>
              <a:t>× </a:t>
            </a:r>
            <a:r>
              <a:rPr sz="960" b="1" i="0">
                <a:solidFill>
                  <a:srgbClr val="004B5A"/>
                </a:solidFill>
                <a:latin typeface="Inter"/>
              </a:rPr>
              <a:t>fewer parameters</a:t>
            </a:r>
            <a:r>
              <a:rPr sz="960" b="0" i="0">
                <a:solidFill>
                  <a:srgbClr val="004B5A"/>
                </a:solidFill>
                <a:latin typeface="Inter"/>
              </a:rPr>
              <a:t> while achieving comparable generation quality.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3019425"/>
            <a:ext cx="666750" cy="20002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652170" y="3048148"/>
            <a:ext cx="51479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04B5A"/>
                </a:solidFill>
                <a:latin typeface="Times New Roman"/>
              </a:rPr>
              <a:t>WINNER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24575" y="3505200"/>
            <a:ext cx="4610100" cy="9810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57925" y="3648075"/>
            <a:ext cx="190500" cy="1524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537870" y="3636615"/>
            <a:ext cx="1135112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Inter"/>
              </a:rPr>
              <a:t>Training Stability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870" y="3828901"/>
            <a:ext cx="3910697" cy="3012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4B5A"/>
                </a:solidFill>
                <a:latin typeface="Inter"/>
              </a:rPr>
              <a:t>Remarkably stable with loss variance of </a:t>
            </a:r>
            <a:r>
              <a:rPr sz="960" b="1" i="0">
                <a:solidFill>
                  <a:srgbClr val="004B5A"/>
                </a:solidFill>
                <a:latin typeface="Inter"/>
              </a:rPr>
              <a:t> 0.0000022</a:t>
            </a:r>
            <a:r>
              <a:rPr sz="960" b="0" i="0">
                <a:solidFill>
                  <a:srgbClr val="004B5A"/>
                </a:solidFill>
                <a:latin typeface="Inter"/>
              </a:rPr>
              <a:t> - 7,000</a:t>
            </a:r>
            <a:r>
              <a:rPr sz="960" b="0" i="0">
                <a:solidFill>
                  <a:srgbClr val="004B5A"/>
                </a:solidFill>
                <a:latin typeface="Microsoft YaHei"/>
              </a:rPr>
              <a:t>× </a:t>
            </a:r>
            <a:r>
              <a:rPr sz="960" b="0" i="0">
                <a:solidFill>
                  <a:srgbClr val="004B5A"/>
                </a:solidFill>
                <a:latin typeface="Inter"/>
              </a:rPr>
              <a:t>more</a:t>
            </a:r>
            <a:r>
              <a:rPr sz="960" b="0" i="0">
                <a:solidFill>
                  <a:srgbClr val="004B5A"/>
                </a:solidFill>
                <a:latin typeface="Inter"/>
              </a:rPr>
              <a:t> stable.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0350" y="4143375"/>
            <a:ext cx="666750" cy="20002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690270" y="4175968"/>
            <a:ext cx="51479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04B5A"/>
                </a:solidFill>
                <a:latin typeface="Times New Roman"/>
              </a:rPr>
              <a:t>WINNER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24575" y="4629150"/>
            <a:ext cx="4610100" cy="98107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57925" y="4772025"/>
            <a:ext cx="161925" cy="1524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499770" y="4764434"/>
            <a:ext cx="1135112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Inter"/>
              </a:rPr>
              <a:t>Sample Diversity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9770" y="4956720"/>
            <a:ext cx="3908167" cy="3012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4B5A"/>
                </a:solidFill>
                <a:latin typeface="Inter"/>
              </a:rPr>
              <a:t>Higher diversity score of </a:t>
            </a:r>
            <a:r>
              <a:rPr sz="960" b="1" i="0">
                <a:solidFill>
                  <a:srgbClr val="004B5A"/>
                </a:solidFill>
                <a:latin typeface="Inter"/>
              </a:rPr>
              <a:t> 1.60</a:t>
            </a:r>
            <a:r>
              <a:rPr sz="960" b="0" i="0">
                <a:solidFill>
                  <a:srgbClr val="004B5A"/>
                </a:solidFill>
                <a:latin typeface="Inter"/>
              </a:rPr>
              <a:t> vs 0.75 - producing 2.1</a:t>
            </a:r>
            <a:r>
              <a:rPr sz="960" b="0" i="0">
                <a:solidFill>
                  <a:srgbClr val="004B5A"/>
                </a:solidFill>
                <a:latin typeface="Microsoft YaHei"/>
              </a:rPr>
              <a:t>× </a:t>
            </a:r>
            <a:r>
              <a:rPr sz="960" b="0" i="0">
                <a:solidFill>
                  <a:srgbClr val="004B5A"/>
                </a:solidFill>
                <a:latin typeface="Inter"/>
              </a:rPr>
              <a:t>more varied</a:t>
            </a:r>
            <a:r>
              <a:rPr sz="960" b="0" i="0">
                <a:solidFill>
                  <a:srgbClr val="004B5A"/>
                </a:solidFill>
                <a:latin typeface="Inter"/>
              </a:rPr>
              <a:t> samples.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5267325"/>
            <a:ext cx="666750" cy="20002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652170" y="5303787"/>
            <a:ext cx="51479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04B5A"/>
                </a:solidFill>
                <a:latin typeface="Times New Roman"/>
              </a:rPr>
              <a:t>WINNER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24575" y="5762625"/>
            <a:ext cx="4610100" cy="78105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57925" y="5895975"/>
            <a:ext cx="152400" cy="16192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499770" y="5892254"/>
            <a:ext cx="1058465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Inter"/>
              </a:rPr>
              <a:t>Mode Coverage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9770" y="6084540"/>
            <a:ext cx="3912036" cy="3012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4B5A"/>
                </a:solidFill>
                <a:latin typeface="Inter"/>
              </a:rPr>
              <a:t>Complete </a:t>
            </a:r>
            <a:r>
              <a:rPr sz="960" b="1" i="0">
                <a:solidFill>
                  <a:srgbClr val="004B5A"/>
                </a:solidFill>
                <a:latin typeface="Inter"/>
              </a:rPr>
              <a:t> 100% mode coverage</a:t>
            </a:r>
            <a:r>
              <a:rPr sz="960" b="0" i="0">
                <a:solidFill>
                  <a:srgbClr val="004B5A"/>
                </a:solidFill>
                <a:latin typeface="Inter"/>
              </a:rPr>
              <a:t> without collapse, stable across all</a:t>
            </a:r>
            <a:r>
              <a:rPr sz="960" b="0" i="0">
                <a:solidFill>
                  <a:srgbClr val="004B5A"/>
                </a:solidFill>
                <a:latin typeface="Inter"/>
              </a:rPr>
              <a:t> digit classes.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714500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90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90354" y="228600"/>
            <a:ext cx="4611290" cy="4000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004B5A"/>
                </a:solidFill>
                <a:latin typeface="Inter"/>
              </a:rPr>
              <a:t>Methodology &amp; Architecture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1019175"/>
            <a:ext cx="5124450" cy="2952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375" y="1257300"/>
            <a:ext cx="1905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9516" y="1257300"/>
            <a:ext cx="1698724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4B5A"/>
                </a:solidFill>
                <a:latin typeface="Inter"/>
              </a:rPr>
              <a:t>Problem Formulation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375" y="1628775"/>
            <a:ext cx="114300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78284" y="1624905"/>
            <a:ext cx="2981503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Learn mapping from </a:t>
            </a:r>
            <a:r>
              <a:rPr sz="1019" b="1" i="0">
                <a:solidFill>
                  <a:srgbClr val="004B5A"/>
                </a:solidFill>
                <a:latin typeface="Inter"/>
              </a:rPr>
              <a:t> latent noise to pixel space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375" y="2009775"/>
            <a:ext cx="114300" cy="133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78284" y="2006500"/>
            <a:ext cx="3278713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Target: </a:t>
            </a:r>
            <a:r>
              <a:rPr sz="1019" b="1" i="0">
                <a:solidFill>
                  <a:srgbClr val="004B5A"/>
                </a:solidFill>
                <a:latin typeface="Inter"/>
              </a:rPr>
              <a:t> 4</a:t>
            </a:r>
            <a:r>
              <a:rPr sz="1019" b="1" i="0">
                <a:solidFill>
                  <a:srgbClr val="004B5A"/>
                </a:solidFill>
                <a:latin typeface="Microsoft YaHei"/>
              </a:rPr>
              <a:t>×</a:t>
            </a:r>
            <a:r>
              <a:rPr sz="1019" b="1" i="0">
                <a:solidFill>
                  <a:srgbClr val="004B5A"/>
                </a:solidFill>
                <a:latin typeface="Inter"/>
              </a:rPr>
              <a:t>4 images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(16 pixels) from EMNIST dataset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375" y="2390775"/>
            <a:ext cx="114300" cy="133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78284" y="2388096"/>
            <a:ext cx="219018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Binary classification: </a:t>
            </a:r>
            <a:r>
              <a:rPr sz="1019" b="1" i="0">
                <a:solidFill>
                  <a:srgbClr val="004B5A"/>
                </a:solidFill>
                <a:latin typeface="Inter"/>
              </a:rPr>
              <a:t> digits 0 and 1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375" y="2667000"/>
            <a:ext cx="4648200" cy="485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01838" y="2773412"/>
            <a:ext cx="123512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4B5A"/>
                </a:solidFill>
                <a:latin typeface="Courier New"/>
              </a:rPr>
              <a:t>G: ℝ^d_z </a:t>
            </a:r>
            <a:r>
              <a:rPr sz="900" b="0" i="0">
                <a:solidFill>
                  <a:srgbClr val="004B5A"/>
                </a:solidFill>
                <a:latin typeface="Cambria Math"/>
              </a:rPr>
              <a:t>→ </a:t>
            </a:r>
            <a:r>
              <a:rPr sz="900" b="0" i="0">
                <a:solidFill>
                  <a:srgbClr val="004B5A"/>
                </a:solidFill>
                <a:latin typeface="Courier New"/>
              </a:rPr>
              <a:t>ℝ^(n</a:t>
            </a:r>
            <a:r>
              <a:rPr sz="900" b="0" i="0">
                <a:solidFill>
                  <a:srgbClr val="004B5A"/>
                </a:solidFill>
                <a:latin typeface="Microsoft YaHei"/>
              </a:rPr>
              <a:t>×</a:t>
            </a:r>
            <a:r>
              <a:rPr sz="900" b="0" i="0">
                <a:solidFill>
                  <a:srgbClr val="004B5A"/>
                </a:solidFill>
                <a:latin typeface="Courier New"/>
              </a:rPr>
              <a:t>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7637" y="2906762"/>
            <a:ext cx="226352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4B5A"/>
                </a:solidFill>
                <a:latin typeface="Courier New"/>
              </a:rPr>
              <a:t>2^q = n² </a:t>
            </a:r>
            <a:r>
              <a:rPr sz="900" b="0" i="0">
                <a:solidFill>
                  <a:srgbClr val="004B5A"/>
                </a:solidFill>
                <a:latin typeface="Cambria Math"/>
              </a:rPr>
              <a:t>→ </a:t>
            </a:r>
            <a:r>
              <a:rPr sz="900" b="0" i="0">
                <a:solidFill>
                  <a:srgbClr val="004B5A"/>
                </a:solidFill>
                <a:latin typeface="Courier New"/>
              </a:rPr>
              <a:t>4 qubits for 16 pixels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375" y="3308449"/>
            <a:ext cx="600075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Latent Dim: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9405" y="3308449"/>
            <a:ext cx="5715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2245" y="3308449"/>
            <a:ext cx="63192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Output Dim: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9275" y="3308449"/>
            <a:ext cx="11430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375" y="3557736"/>
            <a:ext cx="36849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Qubits: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9405" y="3557736"/>
            <a:ext cx="5715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2245" y="3557736"/>
            <a:ext cx="39379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Classes: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86425" y="3557736"/>
            <a:ext cx="5715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2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019175"/>
            <a:ext cx="5124450" cy="29527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1257300"/>
            <a:ext cx="228600" cy="190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68256" y="1257300"/>
            <a:ext cx="1395561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4B5A"/>
                </a:solidFill>
                <a:latin typeface="Inter"/>
              </a:rPr>
              <a:t>Training Protocol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1628775"/>
            <a:ext cx="123825" cy="1333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46515" y="1624905"/>
            <a:ext cx="3026747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Alternating updates: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Discriminator </a:t>
            </a:r>
            <a:r>
              <a:rPr sz="1019" b="0" i="0">
                <a:solidFill>
                  <a:srgbClr val="004B5A"/>
                </a:solidFill>
                <a:latin typeface="Cambria Math"/>
              </a:rPr>
              <a:t>→ </a:t>
            </a:r>
            <a:r>
              <a:rPr sz="1019" b="0" i="0">
                <a:solidFill>
                  <a:srgbClr val="004B5A"/>
                </a:solidFill>
                <a:latin typeface="Inter"/>
              </a:rPr>
              <a:t>Generator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2000250"/>
            <a:ext cx="152400" cy="14287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77025" y="2006500"/>
            <a:ext cx="308836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Loss: </a:t>
            </a:r>
            <a:r>
              <a:rPr sz="1019" b="1" i="0">
                <a:solidFill>
                  <a:srgbClr val="004B5A"/>
                </a:solidFill>
                <a:latin typeface="Inter"/>
              </a:rPr>
              <a:t> Binary Cross-Entropy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with label smoothing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8425" y="2381250"/>
            <a:ext cx="123825" cy="14287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46515" y="2388096"/>
            <a:ext cx="2169497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Gradient clipping: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Max norm = 1.0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8425" y="2771775"/>
            <a:ext cx="123825" cy="1333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46515" y="2769691"/>
            <a:ext cx="259990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Optimizers: </a:t>
            </a:r>
            <a:r>
              <a:rPr sz="1019" b="1" i="0">
                <a:solidFill>
                  <a:srgbClr val="004B5A"/>
                </a:solidFill>
                <a:latin typeface="Inter"/>
              </a:rPr>
              <a:t> Adam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with different </a:t>
            </a:r>
            <a:r>
              <a:rPr sz="1019" b="0" i="0">
                <a:solidFill>
                  <a:srgbClr val="004B5A"/>
                </a:solidFill>
                <a:latin typeface="Cambria Math"/>
              </a:rPr>
              <a:t>β</a:t>
            </a:r>
            <a:r>
              <a:rPr sz="1019" b="0" i="0">
                <a:solidFill>
                  <a:srgbClr val="004B5A"/>
                </a:solidFill>
                <a:latin typeface="Inter"/>
              </a:rPr>
              <a:t>₁ values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8425" y="3308449"/>
            <a:ext cx="86350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G Learning Rate: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580" y="3308449"/>
            <a:ext cx="200025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0.01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95295" y="3308449"/>
            <a:ext cx="85725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D Learning Rate: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9450" y="3308449"/>
            <a:ext cx="257175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0.001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8425" y="3557736"/>
            <a:ext cx="549175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Batch Size: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35305" y="3557736"/>
            <a:ext cx="11430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95295" y="3557736"/>
            <a:ext cx="39379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Epochs: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82325" y="3557736"/>
            <a:ext cx="11430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50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7725" y="4029075"/>
            <a:ext cx="5124450" cy="271462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5850" y="4276725"/>
            <a:ext cx="190500" cy="18097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359991" y="4264372"/>
            <a:ext cx="1522809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4B5A"/>
                </a:solidFill>
                <a:latin typeface="Inter"/>
              </a:rPr>
              <a:t>Evaluation Metrics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5850" y="4629150"/>
            <a:ext cx="142875" cy="14287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299269" y="4631977"/>
            <a:ext cx="3458646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Fréchet Inception Distance (FID):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Distribution similarity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5850" y="5010150"/>
            <a:ext cx="123825" cy="14287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283940" y="5013573"/>
            <a:ext cx="254707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Pixel MSE: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Direct pixel-wise comparison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5850" y="5391150"/>
            <a:ext cx="123825" cy="14287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283940" y="5395168"/>
            <a:ext cx="26200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Mode Coverage: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Diversity across classes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5850" y="5781675"/>
            <a:ext cx="123825" cy="13335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283940" y="5776763"/>
            <a:ext cx="254856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Sample Diversity: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Pairwise L2 distances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76325" y="6153150"/>
            <a:ext cx="152400" cy="14287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299269" y="6158358"/>
            <a:ext cx="259663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Training Stability: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Loss variance analysis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29350" y="4029075"/>
            <a:ext cx="5124450" cy="2714625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67475" y="4267200"/>
            <a:ext cx="190500" cy="1905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741616" y="4264372"/>
            <a:ext cx="1678037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4B5A"/>
                </a:solidFill>
                <a:latin typeface="Inter"/>
              </a:rPr>
              <a:t>GPU Implementation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57950" y="4629150"/>
            <a:ext cx="133350" cy="142875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665565" y="4631977"/>
            <a:ext cx="306812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Custom GPU simulator: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10-100</a:t>
            </a:r>
            <a:r>
              <a:rPr sz="1019" b="0" i="0">
                <a:solidFill>
                  <a:srgbClr val="004B5A"/>
                </a:solidFill>
                <a:latin typeface="Microsoft YaHei"/>
              </a:rPr>
              <a:t>× </a:t>
            </a:r>
            <a:r>
              <a:rPr sz="1019" b="0" i="0">
                <a:solidFill>
                  <a:srgbClr val="004B5A"/>
                </a:solidFill>
                <a:latin typeface="Inter"/>
              </a:rPr>
              <a:t>faster than CPU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67475" y="5019675"/>
            <a:ext cx="152400" cy="13335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696075" y="5013573"/>
            <a:ext cx="286913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PyTorch integration: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Native autograd support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67475" y="5391150"/>
            <a:ext cx="123825" cy="142875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665565" y="5395168"/>
            <a:ext cx="276242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Batch processing: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Parallel circuit simulation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67475" y="5781675"/>
            <a:ext cx="142875" cy="13335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680894" y="5776763"/>
            <a:ext cx="334241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Memory efficient: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Tensor-based state representation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67475" y="6097339"/>
            <a:ext cx="615701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Framework: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55806" y="6097339"/>
            <a:ext cx="41284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PyTorch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14345" y="6097339"/>
            <a:ext cx="36834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CUDA: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56714" y="6097339"/>
            <a:ext cx="25896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11.8+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67475" y="6346626"/>
            <a:ext cx="600223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Speed Gain: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79618" y="6346626"/>
            <a:ext cx="38903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10-100</a:t>
            </a:r>
            <a:r>
              <a:rPr sz="900" b="1" i="0">
                <a:solidFill>
                  <a:srgbClr val="004B5A"/>
                </a:solidFill>
                <a:latin typeface="Microsoft YaHei"/>
              </a:rPr>
              <a:t>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14345" y="6346626"/>
            <a:ext cx="457051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Memory: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28139" y="6346626"/>
            <a:ext cx="287535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Times New Roman"/>
              </a:rPr>
              <a:t>&lt;2GB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714500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90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94460" y="228600"/>
            <a:ext cx="3202930" cy="4000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004B5A"/>
                </a:solidFill>
                <a:latin typeface="Inter"/>
              </a:rPr>
              <a:t>Experimental Setup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1371600"/>
            <a:ext cx="5086350" cy="403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1609725"/>
            <a:ext cx="1905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31416" y="1609725"/>
            <a:ext cx="2113061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4B5A"/>
                </a:solidFill>
                <a:latin typeface="Inter"/>
              </a:rPr>
              <a:t>Configuration Parameters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57275" y="1931640"/>
          <a:ext cx="4609951" cy="218360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04975"/>
                <a:gridCol w="2304976"/>
              </a:tblGrid>
              <a:tr h="272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Qubits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/>
                </a:tc>
              </a:tr>
              <a:tr h="272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Circuit Layers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anchor="ctr"/>
                </a:tc>
              </a:tr>
              <a:tr h="272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Latent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/>
                </a:tc>
              </a:tr>
              <a:tr h="272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Image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Microsoft YaHei"/>
                        </a:rPr>
                        <a:t>4×4 (16 pixels)</a:t>
                      </a:r>
                    </a:p>
                  </a:txBody>
                  <a:tcPr anchor="ctr"/>
                </a:tc>
              </a:tr>
              <a:tr h="272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Target Digits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0, 1</a:t>
                      </a:r>
                    </a:p>
                  </a:txBody>
                  <a:tcPr anchor="ctr"/>
                </a:tc>
              </a:tr>
              <a:tr h="272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Training Epochs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50</a:t>
                      </a:r>
                    </a:p>
                  </a:txBody>
                  <a:tcPr anchor="ctr"/>
                </a:tc>
              </a:tr>
              <a:tr h="272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Batch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32</a:t>
                      </a:r>
                    </a:p>
                  </a:txBody>
                  <a:tcPr anchor="ctr"/>
                </a:tc>
              </a:tr>
              <a:tr h="2729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Random Seed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42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" y="4267200"/>
            <a:ext cx="4610100" cy="933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200" y="4429571"/>
            <a:ext cx="102631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Times New Roman"/>
              </a:rPr>
              <a:t>Samples per Digit: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1080" y="4429571"/>
            <a:ext cx="19422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Times New Roman"/>
              </a:rPr>
              <a:t>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4658171"/>
            <a:ext cx="132873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Times New Roman"/>
              </a:rPr>
              <a:t>Total Training Samples: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895" y="4658171"/>
            <a:ext cx="29140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Times New Roman"/>
              </a:rPr>
              <a:t>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86771"/>
            <a:ext cx="40987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Times New Roman"/>
              </a:rPr>
              <a:t>Device: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9220" y="4886771"/>
            <a:ext cx="126608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Times New Roman"/>
              </a:rPr>
              <a:t>NVIDIA GPU (CUDA)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104900" y="9469487"/>
          <a:ext cx="4609951" cy="26976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04975"/>
                <a:gridCol w="2304976"/>
              </a:tblGrid>
              <a:tr h="3372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Generator 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0.01</a:t>
                      </a:r>
                    </a:p>
                  </a:txBody>
                  <a:tcPr anchor="ctr"/>
                </a:tc>
              </a:tr>
              <a:tr h="3372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Discriminator 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0.001</a:t>
                      </a:r>
                    </a:p>
                  </a:txBody>
                  <a:tcPr anchor="ctr"/>
                </a:tc>
              </a:tr>
              <a:tr h="3372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Optimizer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Adam</a:t>
                      </a:r>
                    </a:p>
                  </a:txBody>
                  <a:tcPr anchor="ctr"/>
                </a:tc>
              </a:tr>
              <a:tr h="3372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Beta1 (G)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0.9</a:t>
                      </a:r>
                    </a:p>
                  </a:txBody>
                  <a:tcPr anchor="ctr"/>
                </a:tc>
              </a:tr>
              <a:tr h="3372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Beta1 (D)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0.5</a:t>
                      </a:r>
                    </a:p>
                  </a:txBody>
                  <a:tcPr anchor="ctr"/>
                </a:tc>
              </a:tr>
              <a:tr h="3372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Dropout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0.3</a:t>
                      </a:r>
                    </a:p>
                  </a:txBody>
                  <a:tcPr anchor="ctr"/>
                </a:tc>
              </a:tr>
              <a:tr h="3372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Label Smoothing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0.9</a:t>
                      </a:r>
                    </a:p>
                  </a:txBody>
                  <a:tcPr anchor="ctr"/>
                </a:tc>
              </a:tr>
              <a:tr h="3372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Gradient Clipping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1.0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1019175"/>
            <a:ext cx="5086350" cy="48291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1257300"/>
            <a:ext cx="161925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37895" y="1257300"/>
            <a:ext cx="1072008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4B5A"/>
                </a:solidFill>
                <a:latin typeface="Inter"/>
              </a:rPr>
              <a:t>Data Pipeline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525" y="1581150"/>
            <a:ext cx="4610100" cy="8572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9875" y="1714500"/>
            <a:ext cx="276225" cy="2762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24501" y="1776263"/>
            <a:ext cx="610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4120" y="1710630"/>
            <a:ext cx="1148357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4B5A"/>
                </a:solidFill>
                <a:latin typeface="Inter"/>
              </a:rPr>
              <a:t>Dataset Loading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4120" y="1946820"/>
            <a:ext cx="3468320" cy="3336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Load EMNIST dataset (16</a:t>
            </a:r>
            <a:r>
              <a:rPr sz="1019" b="0" i="0">
                <a:solidFill>
                  <a:srgbClr val="004B5A"/>
                </a:solidFill>
                <a:latin typeface="Microsoft YaHei"/>
              </a:rPr>
              <a:t>×</a:t>
            </a:r>
            <a:r>
              <a:rPr sz="1019" b="0" i="0">
                <a:solidFill>
                  <a:srgbClr val="004B5A"/>
                </a:solidFill>
                <a:latin typeface="Inter"/>
              </a:rPr>
              <a:t>16 grayscale images, 112,800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samples, 47 classes)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6525" y="2552700"/>
            <a:ext cx="4610100" cy="6762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9875" y="2686050"/>
            <a:ext cx="276225" cy="2762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24501" y="2750194"/>
            <a:ext cx="610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4120" y="2684561"/>
            <a:ext cx="1009947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4B5A"/>
                </a:solidFill>
                <a:latin typeface="Inter"/>
              </a:rPr>
              <a:t>Class Filtering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4120" y="2920751"/>
            <a:ext cx="3415307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Filter to binary digits (0 and 1) for quantum compatibility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6525" y="3343275"/>
            <a:ext cx="4610100" cy="6762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9875" y="3476625"/>
            <a:ext cx="276225" cy="27622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24501" y="3542853"/>
            <a:ext cx="610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4120" y="3477220"/>
            <a:ext cx="1052363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4B5A"/>
                </a:solidFill>
                <a:latin typeface="Inter"/>
              </a:rPr>
              <a:t>Downsampling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4120" y="3713410"/>
            <a:ext cx="3333898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Downsample from 16</a:t>
            </a:r>
            <a:r>
              <a:rPr sz="1019" b="0" i="0">
                <a:solidFill>
                  <a:srgbClr val="004B5A"/>
                </a:solidFill>
                <a:latin typeface="Microsoft YaHei"/>
              </a:rPr>
              <a:t>×</a:t>
            </a:r>
            <a:r>
              <a:rPr sz="1019" b="0" i="0">
                <a:solidFill>
                  <a:srgbClr val="004B5A"/>
                </a:solidFill>
                <a:latin typeface="Inter"/>
              </a:rPr>
              <a:t>16 to 4</a:t>
            </a:r>
            <a:r>
              <a:rPr sz="1019" b="0" i="0">
                <a:solidFill>
                  <a:srgbClr val="004B5A"/>
                </a:solidFill>
                <a:latin typeface="Microsoft YaHei"/>
              </a:rPr>
              <a:t>×</a:t>
            </a:r>
            <a:r>
              <a:rPr sz="1019" b="0" i="0">
                <a:solidFill>
                  <a:srgbClr val="004B5A"/>
                </a:solidFill>
                <a:latin typeface="Inter"/>
              </a:rPr>
              <a:t>4 using average pooling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6525" y="4143375"/>
            <a:ext cx="4610100" cy="6762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9875" y="4276725"/>
            <a:ext cx="276225" cy="27622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24501" y="4335512"/>
            <a:ext cx="610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14120" y="4269878"/>
            <a:ext cx="991195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4B5A"/>
                </a:solidFill>
                <a:latin typeface="Inter"/>
              </a:rPr>
              <a:t>Normalization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14120" y="4506069"/>
            <a:ext cx="225474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Normalize pixel values to [0, 1] range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6525" y="4933950"/>
            <a:ext cx="4610100" cy="6762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9875" y="5067300"/>
            <a:ext cx="276225" cy="27622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24501" y="5128170"/>
            <a:ext cx="610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14120" y="5062537"/>
            <a:ext cx="107171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4B5A"/>
                </a:solidFill>
                <a:latin typeface="Inter"/>
              </a:rPr>
              <a:t>Train/Test Split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14120" y="5298727"/>
            <a:ext cx="3368278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Create balanced splits with 500 samples per digit class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6829425" y="8457455"/>
          <a:ext cx="4610100" cy="19094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05050"/>
                <a:gridCol w="2305050"/>
              </a:tblGrid>
              <a:tr h="272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GPU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RTX 3090 / A100</a:t>
                      </a:r>
                    </a:p>
                  </a:txBody>
                  <a:tcPr anchor="ctr"/>
                </a:tc>
              </a:tr>
              <a:tr h="272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CUDA 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11.8</a:t>
                      </a:r>
                    </a:p>
                  </a:txBody>
                  <a:tcPr anchor="ctr"/>
                </a:tc>
              </a:tr>
              <a:tr h="272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3.10+</a:t>
                      </a:r>
                    </a:p>
                  </a:txBody>
                  <a:tcPr anchor="ctr"/>
                </a:tc>
              </a:tr>
              <a:tr h="272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Training Time (QGAN)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~24 seconds</a:t>
                      </a:r>
                    </a:p>
                  </a:txBody>
                  <a:tcPr anchor="ctr"/>
                </a:tc>
              </a:tr>
              <a:tr h="272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Training Time (Classical)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~6 seconds</a:t>
                      </a:r>
                    </a:p>
                  </a:txBody>
                  <a:tcPr anchor="ctr"/>
                </a:tc>
              </a:tr>
              <a:tr h="272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Peak GPU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&lt; 2 GB</a:t>
                      </a:r>
                    </a:p>
                  </a:txBody>
                  <a:tcPr anchor="ctr"/>
                </a:tc>
              </a:tr>
              <a:tr h="2727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PyTorch + Qiskit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714500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90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86273" y="228600"/>
            <a:ext cx="5619303" cy="4000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004B5A"/>
                </a:solidFill>
                <a:latin typeface="Inter"/>
              </a:rPr>
              <a:t>Results: Performance Comparison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838200"/>
            <a:ext cx="10477500" cy="4410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16040" y="1076325"/>
            <a:ext cx="3159769" cy="2571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4B5A"/>
                </a:solidFill>
                <a:latin typeface="Inter"/>
              </a:rPr>
              <a:t>Quantitative Results Summary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95375" y="1516260"/>
          <a:ext cx="10001250" cy="349329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/>
                <a:gridCol w="2000250"/>
                <a:gridCol w="2000250"/>
                <a:gridCol w="2000250"/>
                <a:gridCol w="2000250"/>
              </a:tblGrid>
              <a:tr h="4366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04B5A"/>
                          </a:solidFill>
                          <a:latin typeface="Inter"/>
                        </a:rPr>
                        <a:t>Metric</a:t>
                      </a:r>
                    </a:p>
                  </a:txBody>
                  <a:tcPr anchor="ctr">
                    <a:solidFill>
                      <a:srgbClr val="E5EDEE"/>
                    </a:solidFill>
                    <a:lnB w="19050" cmpd="sng">
                      <a:solidFill>
                        <a:srgbClr val="00708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04B5A"/>
                          </a:solidFill>
                          <a:latin typeface="Inter"/>
                        </a:rPr>
                        <a:t>Classical GAN</a:t>
                      </a:r>
                    </a:p>
                  </a:txBody>
                  <a:tcPr anchor="ctr">
                    <a:solidFill>
                      <a:srgbClr val="E5EDEE"/>
                    </a:solidFill>
                    <a:lnB w="19050" cmpd="sng">
                      <a:solidFill>
                        <a:srgbClr val="00708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04B5A"/>
                          </a:solidFill>
                          <a:latin typeface="Inter"/>
                        </a:rPr>
                        <a:t>Quantum GAN</a:t>
                      </a:r>
                    </a:p>
                  </a:txBody>
                  <a:tcPr anchor="ctr">
                    <a:solidFill>
                      <a:srgbClr val="E5EDEE"/>
                    </a:solidFill>
                    <a:lnB w="19050" cmpd="sng">
                      <a:solidFill>
                        <a:srgbClr val="00708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04B5A"/>
                          </a:solidFill>
                          <a:latin typeface="Inter"/>
                        </a:rPr>
                        <a:t>Winner</a:t>
                      </a:r>
                    </a:p>
                  </a:txBody>
                  <a:tcPr anchor="ctr">
                    <a:solidFill>
                      <a:srgbClr val="E5EDEE"/>
                    </a:solidFill>
                    <a:lnB w="19050" cmpd="sng">
                      <a:solidFill>
                        <a:srgbClr val="00708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04B5A"/>
                          </a:solidFill>
                          <a:latin typeface="Inter"/>
                        </a:rPr>
                        <a:t>Ratio</a:t>
                      </a:r>
                    </a:p>
                  </a:txBody>
                  <a:tcPr anchor="ctr">
                    <a:solidFill>
                      <a:srgbClr val="E5EDEE"/>
                    </a:solidFill>
                    <a:lnB w="19050" cmpd="sng">
                      <a:solidFill>
                        <a:srgbClr val="007086"/>
                      </a:solidFill>
                    </a:lnB>
                  </a:tcPr>
                </a:tc>
              </a:tr>
              <a:tr h="43666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Microsoft YaHei"/>
                        </a:rPr>
                        <a:t>FID Score 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0.776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1.525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Classical</a:t>
                      </a:r>
                    </a:p>
                  </a:txBody>
                  <a:tcPr anchor="ctr">
                    <a:solidFill>
                      <a:srgbClr val="E5ED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004B5A"/>
                          </a:solidFill>
                          <a:latin typeface="Microsoft YaHei"/>
                        </a:rPr>
                        <a:t>1.97×</a:t>
                      </a:r>
                    </a:p>
                  </a:txBody>
                  <a:tcPr anchor="ctr"/>
                </a:tc>
              </a:tr>
              <a:tr h="43666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Microsoft YaHei"/>
                        </a:rPr>
                        <a:t>Pixel MSE 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0.0032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0.0258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Classical</a:t>
                      </a:r>
                    </a:p>
                  </a:txBody>
                  <a:tcPr anchor="ctr">
                    <a:solidFill>
                      <a:srgbClr val="E5ED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004B5A"/>
                          </a:solidFill>
                          <a:latin typeface="Microsoft YaHei"/>
                        </a:rPr>
                        <a:t>8.1×</a:t>
                      </a:r>
                    </a:p>
                  </a:txBody>
                  <a:tcPr anchor="ctr"/>
                </a:tc>
              </a:tr>
              <a:tr h="43666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Microsoft YaHei"/>
                        </a:rPr>
                        <a:t>Mode Coverage 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Tie</a:t>
                      </a:r>
                    </a:p>
                  </a:txBody>
                  <a:tcPr anchor="ctr"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004B5A"/>
                          </a:solidFill>
                          <a:latin typeface="Microsoft YaHei"/>
                        </a:rPr>
                        <a:t>1.0×</a:t>
                      </a:r>
                    </a:p>
                  </a:txBody>
                  <a:tcPr anchor="ctr"/>
                </a:tc>
              </a:tr>
              <a:tr h="43666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Microsoft YaHei"/>
                        </a:rPr>
                        <a:t>Sample Diversity 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0.749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1.604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Quantum</a:t>
                      </a:r>
                    </a:p>
                  </a:txBody>
                  <a:tcPr anchor="ctr">
                    <a:solidFill>
                      <a:srgbClr val="D8E4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004B5A"/>
                          </a:solidFill>
                          <a:latin typeface="Microsoft YaHei"/>
                        </a:rPr>
                        <a:t>2.14×</a:t>
                      </a:r>
                    </a:p>
                  </a:txBody>
                  <a:tcPr anchor="ctr"/>
                </a:tc>
              </a:tr>
              <a:tr h="43666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Microsoft YaHei"/>
                        </a:rPr>
                        <a:t>Training Stability 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0.0154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~0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Quantum</a:t>
                      </a:r>
                    </a:p>
                  </a:txBody>
                  <a:tcPr anchor="ctr">
                    <a:solidFill>
                      <a:srgbClr val="D8E4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004B5A"/>
                          </a:solidFill>
                          <a:latin typeface="Microsoft YaHei"/>
                        </a:rPr>
                        <a:t>7,000×</a:t>
                      </a:r>
                    </a:p>
                  </a:txBody>
                  <a:tcPr anchor="ctr"/>
                </a:tc>
              </a:tr>
              <a:tr h="43666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Microsoft YaHei"/>
                        </a:rPr>
                        <a:t>Training Time 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5.75s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23.99s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Classical</a:t>
                      </a:r>
                    </a:p>
                  </a:txBody>
                  <a:tcPr anchor="ctr">
                    <a:solidFill>
                      <a:srgbClr val="E5ED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004B5A"/>
                          </a:solidFill>
                          <a:latin typeface="Microsoft YaHei"/>
                        </a:rPr>
                        <a:t>4.2×</a:t>
                      </a:r>
                    </a:p>
                  </a:txBody>
                  <a:tcPr anchor="ctr"/>
                </a:tc>
              </a:tr>
              <a:tr h="43666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Microsoft YaHei"/>
                        </a:rPr>
                        <a:t>Parameters 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1,872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4B5A"/>
                          </a:solidFill>
                          <a:latin typeface="Inter"/>
                        </a:rPr>
                        <a:t>Quantum</a:t>
                      </a:r>
                    </a:p>
                  </a:txBody>
                  <a:tcPr anchor="ctr">
                    <a:solidFill>
                      <a:srgbClr val="D8E4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004B5A"/>
                          </a:solidFill>
                          <a:latin typeface="Microsoft YaHei"/>
                        </a:rPr>
                        <a:t>78×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5248275"/>
            <a:ext cx="5124450" cy="1647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" y="5476875"/>
            <a:ext cx="20002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69516" y="5487292"/>
            <a:ext cx="1552277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Parameter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5809208"/>
            <a:ext cx="4664094" cy="3964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4B5A"/>
                </a:solidFill>
                <a:latin typeface="Inter"/>
              </a:rPr>
              <a:t>Quantum generator achieves </a:t>
            </a:r>
            <a:r>
              <a:rPr sz="1320" b="1" i="0">
                <a:solidFill>
                  <a:srgbClr val="004B5A"/>
                </a:solidFill>
                <a:latin typeface="Inter"/>
              </a:rPr>
              <a:t> 78</a:t>
            </a:r>
            <a:r>
              <a:rPr sz="1320" b="1" i="0">
                <a:solidFill>
                  <a:srgbClr val="004B5A"/>
                </a:solidFill>
                <a:latin typeface="Microsoft YaHei"/>
              </a:rPr>
              <a:t>× </a:t>
            </a:r>
            <a:r>
              <a:rPr sz="1320" b="1" i="0">
                <a:solidFill>
                  <a:srgbClr val="004B5A"/>
                </a:solidFill>
                <a:latin typeface="Inter"/>
              </a:rPr>
              <a:t>parameter efficiency</a:t>
            </a:r>
            <a:r>
              <a:rPr sz="1080" b="0" i="0">
                <a:solidFill>
                  <a:srgbClr val="004B5A"/>
                </a:solidFill>
                <a:latin typeface="Inter"/>
              </a:rPr>
              <a:t> with only</a:t>
            </a:r>
            <a:r>
              <a:rPr sz="1080" b="0" i="0">
                <a:solidFill>
                  <a:srgbClr val="004B5A"/>
                </a:solidFill>
                <a:latin typeface="Inter"/>
              </a:rPr>
              <a:t> 24 trainable parameters compared to 1,872 in classical counterpart.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6281439"/>
            <a:ext cx="4701450" cy="3539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4B5A"/>
                </a:solidFill>
                <a:latin typeface="Inter"/>
              </a:rPr>
              <a:t>Despite fewer parameters, achieves only ~2</a:t>
            </a:r>
            <a:r>
              <a:rPr sz="1080" b="0" i="0">
                <a:solidFill>
                  <a:srgbClr val="004B5A"/>
                </a:solidFill>
                <a:latin typeface="Microsoft YaHei"/>
              </a:rPr>
              <a:t>× </a:t>
            </a:r>
            <a:r>
              <a:rPr sz="1080" b="0" i="0">
                <a:solidFill>
                  <a:srgbClr val="004B5A"/>
                </a:solidFill>
                <a:latin typeface="Inter"/>
              </a:rPr>
              <a:t>worse FID, demonstrating</a:t>
            </a:r>
            <a:r>
              <a:rPr sz="1080" b="0" i="0">
                <a:solidFill>
                  <a:srgbClr val="004B5A"/>
                </a:solidFill>
                <a:latin typeface="Inter"/>
              </a:rPr>
              <a:t> quantum representational power.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0775" y="5267325"/>
            <a:ext cx="5124450" cy="1647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5495925"/>
            <a:ext cx="219075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35960" y="5506342"/>
            <a:ext cx="1262062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Training Stability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900" y="5828258"/>
            <a:ext cx="4701450" cy="3964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4B5A"/>
                </a:solidFill>
                <a:latin typeface="Inter"/>
              </a:rPr>
              <a:t>Quantum training exhibits </a:t>
            </a:r>
            <a:r>
              <a:rPr sz="1320" b="1" i="0">
                <a:solidFill>
                  <a:srgbClr val="004B5A"/>
                </a:solidFill>
                <a:latin typeface="Inter"/>
              </a:rPr>
              <a:t> 7,000</a:t>
            </a:r>
            <a:r>
              <a:rPr sz="1320" b="1" i="0">
                <a:solidFill>
                  <a:srgbClr val="004B5A"/>
                </a:solidFill>
                <a:latin typeface="Microsoft YaHei"/>
              </a:rPr>
              <a:t>× </a:t>
            </a:r>
            <a:r>
              <a:rPr sz="1320" b="1" i="0">
                <a:solidFill>
                  <a:srgbClr val="004B5A"/>
                </a:solidFill>
                <a:latin typeface="Inter"/>
              </a:rPr>
              <a:t>more stable</a:t>
            </a:r>
            <a:r>
              <a:rPr sz="1080" b="0" i="0">
                <a:solidFill>
                  <a:srgbClr val="004B5A"/>
                </a:solidFill>
                <a:latin typeface="Inter"/>
              </a:rPr>
              <a:t> dynamics with near-</a:t>
            </a:r>
            <a:r>
              <a:rPr sz="1080" b="0" i="0">
                <a:solidFill>
                  <a:srgbClr val="004B5A"/>
                </a:solidFill>
                <a:latin typeface="Inter"/>
              </a:rPr>
              <a:t> zero loss variance.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8900" y="6300489"/>
            <a:ext cx="4357955" cy="3539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4B5A"/>
                </a:solidFill>
                <a:latin typeface="Inter"/>
              </a:rPr>
              <a:t>Parameter-shift rule provides exact gradients, leading to smoother</a:t>
            </a:r>
            <a:r>
              <a:rPr sz="1080" b="0" i="0">
                <a:solidFill>
                  <a:srgbClr val="004B5A"/>
                </a:solidFill>
                <a:latin typeface="Inter"/>
              </a:rPr>
              <a:t> convergence.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714500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90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67447" y="228600"/>
            <a:ext cx="4457104" cy="4000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004B5A"/>
                </a:solidFill>
                <a:latin typeface="Inter"/>
              </a:rPr>
              <a:t>Results: Training Dynamics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1085850"/>
            <a:ext cx="5086350" cy="5353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475" y="1285875"/>
            <a:ext cx="190500" cy="180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07616" y="1275903"/>
            <a:ext cx="1866453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4B5A"/>
                </a:solidFill>
                <a:latin typeface="Inter"/>
              </a:rPr>
              <a:t>Classical GAN Training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" y="1647825"/>
            <a:ext cx="4610100" cy="1771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3975" y="1885950"/>
            <a:ext cx="4133850" cy="1143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3975" y="2447925"/>
            <a:ext cx="4133850" cy="19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95264" y="2373659"/>
            <a:ext cx="1590972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Inter"/>
              </a:rPr>
              <a:t>Adversarial Oscillations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850" y="3571875"/>
            <a:ext cx="4610100" cy="4000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0625" y="3695700"/>
            <a:ext cx="171450" cy="1428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49585" y="3679477"/>
            <a:ext cx="3834973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4B5A"/>
                </a:solidFill>
                <a:latin typeface="Inter"/>
              </a:rPr>
              <a:t>Characteristic </a:t>
            </a:r>
            <a:r>
              <a:rPr sz="1080" b="1" i="0">
                <a:solidFill>
                  <a:srgbClr val="004B5A"/>
                </a:solidFill>
                <a:latin typeface="Inter"/>
              </a:rPr>
              <a:t> adversarial oscillations</a:t>
            </a:r>
            <a:r>
              <a:rPr sz="1080" b="0" i="0">
                <a:solidFill>
                  <a:srgbClr val="004B5A"/>
                </a:solidFill>
                <a:latin typeface="Inter"/>
              </a:rPr>
              <a:t> throughout training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850" y="4086225"/>
            <a:ext cx="4610100" cy="4000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90625" y="4210050"/>
            <a:ext cx="104775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80976" y="4195167"/>
            <a:ext cx="3996005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4B5A"/>
                </a:solidFill>
                <a:latin typeface="Inter"/>
              </a:rPr>
              <a:t>Generator loss </a:t>
            </a:r>
            <a:r>
              <a:rPr sz="1080" b="1" i="0">
                <a:solidFill>
                  <a:srgbClr val="004B5A"/>
                </a:solidFill>
                <a:latin typeface="Inter"/>
              </a:rPr>
              <a:t> increases</a:t>
            </a:r>
            <a:r>
              <a:rPr sz="1080" b="0" i="0">
                <a:solidFill>
                  <a:srgbClr val="004B5A"/>
                </a:solidFill>
                <a:latin typeface="Inter"/>
              </a:rPr>
              <a:t> as discriminator becomes stronger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850" y="4600575"/>
            <a:ext cx="4610100" cy="4000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0625" y="4724400"/>
            <a:ext cx="171450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49585" y="4710856"/>
            <a:ext cx="2751206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4B5A"/>
                </a:solidFill>
                <a:latin typeface="Inter"/>
              </a:rPr>
              <a:t>Stabilization occurs around </a:t>
            </a:r>
            <a:r>
              <a:rPr sz="1080" b="1" i="0">
                <a:solidFill>
                  <a:srgbClr val="004B5A"/>
                </a:solidFill>
                <a:latin typeface="Inter"/>
              </a:rPr>
              <a:t> epoch 30-40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850" y="5114925"/>
            <a:ext cx="4610100" cy="4000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1100" y="5238750"/>
            <a:ext cx="152400" cy="1428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15206" y="5226546"/>
            <a:ext cx="2783056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4B5A"/>
                </a:solidFill>
                <a:latin typeface="Inter"/>
              </a:rPr>
              <a:t>Loss variance: </a:t>
            </a:r>
            <a:r>
              <a:rPr sz="1080" b="1" i="0">
                <a:solidFill>
                  <a:srgbClr val="004B5A"/>
                </a:solidFill>
                <a:latin typeface="Inter"/>
              </a:rPr>
              <a:t> 0.0154</a:t>
            </a:r>
            <a:r>
              <a:rPr sz="1080" b="0" i="0">
                <a:solidFill>
                  <a:srgbClr val="004B5A"/>
                </a:solidFill>
                <a:latin typeface="Inter"/>
              </a:rPr>
              <a:t> indicates instability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00100" y="9534078"/>
          <a:ext cx="4609951" cy="156388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6650"/>
                <a:gridCol w="1536650"/>
                <a:gridCol w="1536651"/>
              </a:tblGrid>
              <a:tr h="31277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04B5A"/>
                          </a:solidFill>
                          <a:latin typeface="Inter"/>
                        </a:rPr>
                        <a:t>Statistic</a:t>
                      </a:r>
                    </a:p>
                  </a:txBody>
                  <a:tcPr anchor="ctr">
                    <a:solidFill>
                      <a:srgbClr val="E5EDEE"/>
                    </a:solidFill>
                    <a:lnB w="9525" cmpd="sng">
                      <a:solidFill>
                        <a:srgbClr val="00708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04B5A"/>
                          </a:solidFill>
                          <a:latin typeface="Inter"/>
                        </a:rPr>
                        <a:t>Classical D</a:t>
                      </a:r>
                    </a:p>
                  </a:txBody>
                  <a:tcPr anchor="ctr">
                    <a:solidFill>
                      <a:srgbClr val="E5EDEE"/>
                    </a:solidFill>
                    <a:lnB w="9525" cmpd="sng">
                      <a:solidFill>
                        <a:srgbClr val="00708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04B5A"/>
                          </a:solidFill>
                          <a:latin typeface="Inter"/>
                        </a:rPr>
                        <a:t>Classical G</a:t>
                      </a:r>
                    </a:p>
                  </a:txBody>
                  <a:tcPr anchor="ctr">
                    <a:solidFill>
                      <a:srgbClr val="E5EDEE"/>
                    </a:solidFill>
                    <a:lnB w="9525" cmpd="sng">
                      <a:solidFill>
                        <a:srgbClr val="007086"/>
                      </a:solidFill>
                    </a:lnB>
                  </a:tcPr>
                </a:tc>
              </a:tr>
              <a:tr h="31277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Final Loss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1.12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0.89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</a:tr>
              <a:tr h="31277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Min Loss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0.95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0.65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</a:tr>
              <a:tr h="31277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Max Loss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1.45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1.23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</a:tr>
              <a:tr h="31277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Std Dev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0.124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0.132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05550" y="1057275"/>
            <a:ext cx="5086350" cy="63817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43675" y="1238250"/>
            <a:ext cx="190500" cy="190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08440" y="1238250"/>
            <a:ext cx="1251674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4B5A"/>
                </a:solidFill>
                <a:latin typeface="Inter"/>
              </a:rPr>
              <a:t>Quantum GAN</a:t>
            </a:r>
            <a:r>
              <a:rPr sz="1320" b="1" i="0">
                <a:solidFill>
                  <a:srgbClr val="004B5A"/>
                </a:solidFill>
                <a:latin typeface="Inter"/>
              </a:rPr>
              <a:t> Training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62725" y="1524000"/>
            <a:ext cx="4619625" cy="17716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00850" y="1762125"/>
            <a:ext cx="4143375" cy="11430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00850" y="2324100"/>
            <a:ext cx="4143375" cy="190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142982" y="2249834"/>
            <a:ext cx="1449585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Inter"/>
              </a:rPr>
              <a:t>Smooth Convergence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3675" y="3543300"/>
            <a:ext cx="4610100" cy="4000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48450" y="3667125"/>
            <a:ext cx="104775" cy="1428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38801" y="3650753"/>
            <a:ext cx="2450276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4B5A"/>
                </a:solidFill>
                <a:latin typeface="Inter"/>
              </a:rPr>
              <a:t>Both losses decrease </a:t>
            </a:r>
            <a:r>
              <a:rPr sz="1080" b="1" i="0">
                <a:solidFill>
                  <a:srgbClr val="004B5A"/>
                </a:solidFill>
                <a:latin typeface="Inter"/>
              </a:rPr>
              <a:t> monotonically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3675" y="4057650"/>
            <a:ext cx="4610100" cy="4000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48450" y="4181475"/>
            <a:ext cx="142875" cy="14287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73031" y="4166443"/>
            <a:ext cx="2193696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4B5A"/>
                </a:solidFill>
                <a:latin typeface="Inter"/>
              </a:rPr>
              <a:t>Equilibrium reached by </a:t>
            </a:r>
            <a:r>
              <a:rPr sz="1080" b="1" i="0">
                <a:solidFill>
                  <a:srgbClr val="004B5A"/>
                </a:solidFill>
                <a:latin typeface="Inter"/>
              </a:rPr>
              <a:t> epoch 10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3675" y="4572000"/>
            <a:ext cx="4610100" cy="4000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48450" y="4695825"/>
            <a:ext cx="123825" cy="14287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55916" y="4682132"/>
            <a:ext cx="3075801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Inter"/>
              </a:rPr>
              <a:t>No significant oscillations</a:t>
            </a:r>
            <a:r>
              <a:rPr sz="1080" b="0" i="0">
                <a:solidFill>
                  <a:srgbClr val="004B5A"/>
                </a:solidFill>
                <a:latin typeface="Inter"/>
              </a:rPr>
              <a:t> throughout training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3675" y="5086350"/>
            <a:ext cx="4610100" cy="4000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38925" y="5210175"/>
            <a:ext cx="171450" cy="14287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890295" y="5197822"/>
            <a:ext cx="3108096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4B5A"/>
                </a:solidFill>
                <a:latin typeface="Inter"/>
              </a:rPr>
              <a:t>Loss variance: </a:t>
            </a:r>
            <a:r>
              <a:rPr sz="1080" b="1" i="0">
                <a:solidFill>
                  <a:srgbClr val="004B5A"/>
                </a:solidFill>
                <a:latin typeface="Inter"/>
              </a:rPr>
              <a:t> 0.0000022</a:t>
            </a:r>
            <a:r>
              <a:rPr sz="1080" b="0" i="0">
                <a:solidFill>
                  <a:srgbClr val="004B5A"/>
                </a:solidFill>
                <a:latin typeface="Inter"/>
              </a:rPr>
              <a:t> - remarkably stable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6543675" y="5633591"/>
          <a:ext cx="4610100" cy="156388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6700"/>
                <a:gridCol w="1536700"/>
                <a:gridCol w="1536700"/>
              </a:tblGrid>
              <a:tr h="31277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04B5A"/>
                          </a:solidFill>
                          <a:latin typeface="Inter"/>
                        </a:rPr>
                        <a:t>Statistic</a:t>
                      </a:r>
                    </a:p>
                  </a:txBody>
                  <a:tcPr anchor="ctr">
                    <a:solidFill>
                      <a:srgbClr val="E5EDEE"/>
                    </a:solidFill>
                    <a:lnB w="9525" cmpd="sng">
                      <a:solidFill>
                        <a:srgbClr val="00708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04B5A"/>
                          </a:solidFill>
                          <a:latin typeface="Inter"/>
                        </a:rPr>
                        <a:t>Quantum D</a:t>
                      </a:r>
                    </a:p>
                  </a:txBody>
                  <a:tcPr anchor="ctr">
                    <a:solidFill>
                      <a:srgbClr val="E5EDEE"/>
                    </a:solidFill>
                    <a:lnB w="9525" cmpd="sng">
                      <a:solidFill>
                        <a:srgbClr val="00708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04B5A"/>
                          </a:solidFill>
                          <a:latin typeface="Inter"/>
                        </a:rPr>
                        <a:t>Quantum G</a:t>
                      </a:r>
                    </a:p>
                  </a:txBody>
                  <a:tcPr anchor="ctr">
                    <a:solidFill>
                      <a:srgbClr val="E5EDEE"/>
                    </a:solidFill>
                    <a:lnB w="9525" cmpd="sng">
                      <a:solidFill>
                        <a:srgbClr val="007086"/>
                      </a:solidFill>
                    </a:lnB>
                  </a:tcPr>
                </a:tc>
              </a:tr>
              <a:tr h="31277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Final Loss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1.38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0.71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</a:tr>
              <a:tr h="31277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Min Loss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1.31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0.68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</a:tr>
              <a:tr h="31277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Max Loss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1.42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0.85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</a:tr>
              <a:tr h="31277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Std Dev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0.028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004B5A"/>
                          </a:solidFill>
                          <a:latin typeface="Inter"/>
                        </a:rPr>
                        <a:t>0.042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714500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33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63601" y="182760"/>
            <a:ext cx="6464796" cy="4000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004B5A"/>
                </a:solidFill>
                <a:latin typeface="Inter"/>
              </a:rPr>
              <a:t>Technical Innovation: GPU Acceleration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885825"/>
            <a:ext cx="5553075" cy="2838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047750"/>
            <a:ext cx="200025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776" y="1043731"/>
            <a:ext cx="18301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4B5A"/>
                </a:solidFill>
                <a:latin typeface="Inter"/>
              </a:rPr>
              <a:t>GPU Implementation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1400175"/>
            <a:ext cx="5229225" cy="3714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1504950"/>
            <a:ext cx="152400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8481" y="1495127"/>
            <a:ext cx="4339113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Custom GPU simulator: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Fully differentiable quantum circuit simulation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1847850"/>
            <a:ext cx="5229225" cy="3714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1952625"/>
            <a:ext cx="171450" cy="142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2860" y="1941462"/>
            <a:ext cx="286913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PyTorch integration: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Native autograd support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2295525"/>
            <a:ext cx="5229225" cy="3714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2400300"/>
            <a:ext cx="142875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8481" y="2387798"/>
            <a:ext cx="276242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Batch processing: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Parallel circuit simulation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2743200"/>
            <a:ext cx="5229225" cy="3714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2847975"/>
            <a:ext cx="161925" cy="1428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5745" y="2834133"/>
            <a:ext cx="300546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Memory efficient: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Tensor-based representation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" y="3228975"/>
            <a:ext cx="2571750" cy="5619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94842" y="3326159"/>
            <a:ext cx="614511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10-100</a:t>
            </a:r>
            <a:r>
              <a:rPr sz="1200" b="1" i="0">
                <a:solidFill>
                  <a:srgbClr val="004B5A"/>
                </a:solidFill>
                <a:latin typeface="Microsoft YaHei"/>
              </a:rPr>
              <a:t>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1510" y="3547020"/>
            <a:ext cx="581322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004B5A"/>
                </a:solidFill>
                <a:latin typeface="Inter"/>
              </a:rPr>
              <a:t>Speed Gain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76600" y="3228975"/>
            <a:ext cx="2571750" cy="5619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352329" y="3326159"/>
            <a:ext cx="41463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&lt;2GB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2551" y="3547020"/>
            <a:ext cx="674191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004B5A"/>
                </a:solidFill>
                <a:latin typeface="Inter"/>
              </a:rPr>
              <a:t>GPU Memory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" y="3876675"/>
            <a:ext cx="2571750" cy="5619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765399" y="3973562"/>
            <a:ext cx="273546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4-8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2758" y="4194423"/>
            <a:ext cx="618827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004B5A"/>
                </a:solidFill>
                <a:latin typeface="Inter"/>
              </a:rPr>
              <a:t>Qubit Range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76600" y="3876675"/>
            <a:ext cx="2571750" cy="5619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130426" y="3973562"/>
            <a:ext cx="85844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CUDA 11.8+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13473" y="4194423"/>
            <a:ext cx="69219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004B5A"/>
                </a:solidFill>
                <a:latin typeface="Inter"/>
              </a:rPr>
              <a:t>Requirements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76675"/>
            <a:ext cx="5553075" cy="28384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125" y="4048125"/>
            <a:ext cx="247650" cy="2095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73335" y="4031902"/>
            <a:ext cx="1587698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4B5A"/>
                </a:solidFill>
                <a:latin typeface="Inter"/>
              </a:rPr>
              <a:t>Core Architecture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125" y="4486275"/>
            <a:ext cx="5229225" cy="92392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20030" y="4574678"/>
            <a:ext cx="2138213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class GPUQuantumCircuit(nn.Module):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58095" y="4574678"/>
            <a:ext cx="261342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"""Differentiable quantum circuit on GPU"""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71368" y="4574678"/>
            <a:ext cx="178296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def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030" y="4693592"/>
            <a:ext cx="2197596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forward(self, latent: torch.Tensor):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17477" y="4693592"/>
            <a:ext cx="1603920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# Initialize |0...0⟩ state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1249" y="4693592"/>
            <a:ext cx="415825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state =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030" y="4812506"/>
            <a:ext cx="2197596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torch.zeros(batch_size, 2**n_qubits)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17477" y="4812506"/>
            <a:ext cx="106918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state[:, 0] = 1.0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86510" y="4812506"/>
            <a:ext cx="1485007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# Encode latent variables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0030" y="4931419"/>
            <a:ext cx="2553890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state = self._encode_latent(latent, state)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73772" y="4931419"/>
            <a:ext cx="160377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# Apply variational layers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77395" y="4931419"/>
            <a:ext cx="712886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for layer 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030" y="5050333"/>
            <a:ext cx="1009798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range(n_layers):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29680" y="5050333"/>
            <a:ext cx="308848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state = self._apply_variational_layer(state, layer)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18012" y="5050333"/>
            <a:ext cx="534739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# Compute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0030" y="5169247"/>
            <a:ext cx="1544240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probabilities (Born rule)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64122" y="5169247"/>
            <a:ext cx="2257127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probabilities = torch.abs(state) ** 2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21100" y="5169247"/>
            <a:ext cx="1187946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return probabilities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5486400"/>
            <a:ext cx="5229225" cy="37147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4375" y="5591175"/>
            <a:ext cx="114300" cy="14287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14251" y="5581352"/>
            <a:ext cx="3965703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Training acceleration: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Enables practical QGAN experimentation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5934075"/>
            <a:ext cx="5229225" cy="371475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3900" y="6038850"/>
            <a:ext cx="142875" cy="14287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48481" y="6027687"/>
            <a:ext cx="3459837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Real-time feedback: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Interactive hyperparameter tuning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885825"/>
            <a:ext cx="5553075" cy="283845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53175" y="1047750"/>
            <a:ext cx="200025" cy="21907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653956" y="1043731"/>
            <a:ext cx="2724447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4B5A"/>
                </a:solidFill>
                <a:latin typeface="Inter"/>
              </a:rPr>
              <a:t>Quantum Gate Implementation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53175" y="1457325"/>
            <a:ext cx="5229225" cy="1000125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450210" y="1555998"/>
            <a:ext cx="1315342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Inter"/>
              </a:rPr>
              <a:t>Single-Qubit Gates: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72101" y="1809303"/>
            <a:ext cx="168622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4B5A"/>
                </a:solidFill>
                <a:latin typeface="Inter"/>
              </a:rPr>
              <a:t>Tensor contractions via einsum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50210" y="1809303"/>
            <a:ext cx="5432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Microsoft YaHei"/>
              </a:rPr>
              <a:t>•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72101" y="2003524"/>
            <a:ext cx="139377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4B5A"/>
                </a:solidFill>
                <a:latin typeface="Inter"/>
              </a:rPr>
              <a:t>Efficient batching support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50210" y="2003524"/>
            <a:ext cx="5432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Microsoft YaHei"/>
              </a:rPr>
              <a:t>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72101" y="2197744"/>
            <a:ext cx="143142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4B5A"/>
                </a:solidFill>
                <a:latin typeface="Inter"/>
              </a:rPr>
              <a:t>GPU-optimized operations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50210" y="2197744"/>
            <a:ext cx="5432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Microsoft YaHei"/>
              </a:rPr>
              <a:t>•</a:t>
            </a:r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53175" y="2609850"/>
            <a:ext cx="5229225" cy="2095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450210" y="2700337"/>
            <a:ext cx="3326010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def _apply_single_qubit_gate(self, state, gate, qubit):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76073" y="2700337"/>
            <a:ext cx="1663154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# Reshape to separate target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50210" y="2819251"/>
            <a:ext cx="356443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qubit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06505" y="2819251"/>
            <a:ext cx="2969716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state = state.reshape(batch, 2**(n-q-1), 2, 2**q)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76073" y="2819251"/>
            <a:ext cx="136624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# Apply gate via einsum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50210" y="2938164"/>
            <a:ext cx="308848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state = torch.einsum('bij,bkjl-&gt;bkil', gate, state)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38543" y="2938164"/>
            <a:ext cx="160377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return state.reshape(batch,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50210" y="3057078"/>
            <a:ext cx="297060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2**n)</a:t>
            </a:r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53175" y="2962275"/>
            <a:ext cx="5229225" cy="1000125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6450210" y="3054399"/>
            <a:ext cx="866626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Inter"/>
              </a:rPr>
              <a:t>CNOT Gates: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72101" y="3307705"/>
            <a:ext cx="142175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4B5A"/>
                </a:solidFill>
                <a:latin typeface="Inter"/>
              </a:rPr>
              <a:t>Index permutation method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50210" y="3307705"/>
            <a:ext cx="5432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Microsoft YaHei"/>
              </a:rPr>
              <a:t>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72101" y="3501925"/>
            <a:ext cx="123720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4B5A"/>
                </a:solidFill>
                <a:latin typeface="Inter"/>
              </a:rPr>
              <a:t>Control qubit detection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50210" y="3501925"/>
            <a:ext cx="5432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Microsoft YaHei"/>
              </a:rPr>
              <a:t>•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72101" y="3696146"/>
            <a:ext cx="117380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4B5A"/>
                </a:solidFill>
                <a:latin typeface="Inter"/>
              </a:rPr>
              <a:t>Efficient state flipping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50210" y="3696146"/>
            <a:ext cx="5432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Microsoft YaHei"/>
              </a:rPr>
              <a:t>•</a:t>
            </a:r>
          </a:p>
        </p:txBody>
      </p:sp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3876675"/>
            <a:ext cx="5553075" cy="2838450"/>
          </a:xfrm>
          <a:prstGeom prst="rect">
            <a:avLst/>
          </a:prstGeom>
        </p:spPr>
      </p:pic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53175" y="4048125"/>
            <a:ext cx="200025" cy="20955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6653956" y="4031902"/>
            <a:ext cx="1950987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4B5A"/>
                </a:solidFill>
                <a:latin typeface="Inter"/>
              </a:rPr>
              <a:t>Performance Benefits</a:t>
            </a:r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53175" y="4486275"/>
            <a:ext cx="5229225" cy="714375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8200132" y="4574678"/>
            <a:ext cx="1521916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04B5A"/>
                </a:solidFill>
                <a:latin typeface="Inter"/>
              </a:rPr>
              <a:t>GPU vs CPU Performance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66582" y="4818459"/>
            <a:ext cx="5038546" cy="2530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4B5A"/>
                </a:solidFill>
                <a:latin typeface="Courier New"/>
              </a:rPr>
              <a:t>CPU Qiskit: </a:t>
            </a:r>
            <a:r>
              <a:rPr sz="780" b="0" i="0">
                <a:solidFill>
                  <a:srgbClr val="004B5A"/>
                </a:solidFill>
                <a:latin typeface="Courier New"/>
              </a:rPr>
              <a:t> [████████████████████████] 240s GPU Custom: </a:t>
            </a:r>
            <a:r>
              <a:rPr sz="780" b="0" i="0">
                <a:solidFill>
                  <a:srgbClr val="004B5A"/>
                </a:solidFill>
                <a:latin typeface="Courier New"/>
              </a:rPr>
              <a:t> [██] 24s </a:t>
            </a:r>
            <a:r>
              <a:rPr sz="780" b="0" i="0">
                <a:solidFill>
                  <a:srgbClr val="004B5A"/>
                </a:solidFill>
                <a:latin typeface="Courier New"/>
              </a:rPr>
              <a:t> Speed: 10</a:t>
            </a:r>
            <a:r>
              <a:rPr sz="780" b="0" i="0">
                <a:solidFill>
                  <a:srgbClr val="004B5A"/>
                </a:solidFill>
                <a:latin typeface="Microsoft YaHei"/>
              </a:rPr>
              <a:t>× </a:t>
            </a:r>
            <a:r>
              <a:rPr sz="780" b="0" i="0">
                <a:solidFill>
                  <a:srgbClr val="004B5A"/>
                </a:solidFill>
                <a:latin typeface="Courier New"/>
              </a:rPr>
              <a:t>faster |</a:t>
            </a:r>
            <a:r>
              <a:rPr sz="780" b="0" i="0">
                <a:solidFill>
                  <a:srgbClr val="004B5A"/>
                </a:solidFill>
                <a:latin typeface="Courier New"/>
              </a:rPr>
              <a:t> Memory: 50% less Batch: 32 circuits | Autograd: Native</a:t>
            </a:r>
          </a:p>
        </p:txBody>
      </p:sp>
      <p:pic>
        <p:nvPicPr>
          <p:cNvPr id="96" name="Picture 9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3175" y="5286375"/>
            <a:ext cx="5229225" cy="371475"/>
          </a:xfrm>
          <a:prstGeom prst="rect">
            <a:avLst/>
          </a:prstGeom>
        </p:spPr>
      </p:pic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57950" y="5391150"/>
            <a:ext cx="123825" cy="142875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6661546" y="5379541"/>
            <a:ext cx="22395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Scalability: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Supports up to 8 qubits</a:t>
            </a:r>
          </a:p>
        </p:txBody>
      </p:sp>
      <p:pic>
        <p:nvPicPr>
          <p:cNvPr id="99" name="Picture 9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3175" y="5734050"/>
            <a:ext cx="5229225" cy="371475"/>
          </a:xfrm>
          <a:prstGeom prst="rect">
            <a:avLst/>
          </a:prstGeom>
        </p:spPr>
      </p:pic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57950" y="5838825"/>
            <a:ext cx="171450" cy="142875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6713041" y="5825876"/>
            <a:ext cx="3077497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Open source: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Available for quantum ML research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714500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90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78039" y="228600"/>
            <a:ext cx="4035772" cy="4000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004B5A"/>
                </a:solidFill>
                <a:latin typeface="Inter"/>
              </a:rPr>
              <a:t>Limitations &amp; Challenges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1019175"/>
            <a:ext cx="5086350" cy="4743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850" y="1266825"/>
            <a:ext cx="200025" cy="180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9516" y="1257300"/>
            <a:ext cx="1739651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4B5A"/>
                </a:solidFill>
                <a:latin typeface="Inter"/>
              </a:rPr>
              <a:t>Technical Limitations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375" y="1581150"/>
            <a:ext cx="4610100" cy="5429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0150" y="1685925"/>
            <a:ext cx="14287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24731" y="1680120"/>
            <a:ext cx="4151590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Simulation overhead: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Training on simulated quantum circuits is 4</a:t>
            </a:r>
            <a:r>
              <a:rPr sz="1019" b="0" i="0">
                <a:solidFill>
                  <a:srgbClr val="004B5A"/>
                </a:solidFill>
                <a:latin typeface="Microsoft YaHei"/>
              </a:rPr>
              <a:t>×</a:t>
            </a:r>
            <a:r>
              <a:rPr sz="1019" b="0" i="0">
                <a:solidFill>
                  <a:srgbClr val="004B5A"/>
                </a:solidFill>
                <a:latin typeface="Inter"/>
              </a:rPr>
              <a:t>slower than classical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375" y="2238375"/>
            <a:ext cx="4610100" cy="542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0150" y="2343150"/>
            <a:ext cx="161925" cy="142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41995" y="2340471"/>
            <a:ext cx="3806309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Qubit scaling: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Memory requirements grow as O(2^n), limiting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scalability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375" y="2905125"/>
            <a:ext cx="4610100" cy="5429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0150" y="3009900"/>
            <a:ext cx="171450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59110" y="3000821"/>
            <a:ext cx="3958113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Noise effects: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Real quantum hardware introduces decoherence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(not tested)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375" y="3562350"/>
            <a:ext cx="4610100" cy="542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0150" y="3667125"/>
            <a:ext cx="123825" cy="1428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07616" y="3661171"/>
            <a:ext cx="3690520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Resolution constraint: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Limited to small images due to qubit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requirements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5375" y="4229100"/>
            <a:ext cx="4610100" cy="1295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26790" y="4356348"/>
            <a:ext cx="1358949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Inter"/>
              </a:rPr>
              <a:t>Scalability Analysis: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8680" y="4609653"/>
            <a:ext cx="210472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4B5A"/>
                </a:solidFill>
                <a:latin typeface="Inter"/>
              </a:rPr>
              <a:t>4</a:t>
            </a:r>
            <a:r>
              <a:rPr sz="900" b="0" i="0">
                <a:solidFill>
                  <a:srgbClr val="004B5A"/>
                </a:solidFill>
                <a:latin typeface="Microsoft YaHei"/>
              </a:rPr>
              <a:t>×</a:t>
            </a:r>
            <a:r>
              <a:rPr sz="900" b="0" i="0">
                <a:solidFill>
                  <a:srgbClr val="004B5A"/>
                </a:solidFill>
                <a:latin typeface="Inter"/>
              </a:rPr>
              <a:t>4 images require 4 qubits (16 pixels)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6790" y="4609653"/>
            <a:ext cx="11430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Cambria Math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680" y="4819054"/>
            <a:ext cx="2370236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4B5A"/>
                </a:solidFill>
                <a:latin typeface="Inter"/>
              </a:rPr>
              <a:t>8</a:t>
            </a:r>
            <a:r>
              <a:rPr sz="900" b="0" i="0">
                <a:solidFill>
                  <a:srgbClr val="004B5A"/>
                </a:solidFill>
                <a:latin typeface="Microsoft YaHei"/>
              </a:rPr>
              <a:t>×</a:t>
            </a:r>
            <a:r>
              <a:rPr sz="900" b="0" i="0">
                <a:solidFill>
                  <a:srgbClr val="004B5A"/>
                </a:solidFill>
                <a:latin typeface="Inter"/>
              </a:rPr>
              <a:t>8 images would need 6 qubits (64 pixels)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6790" y="4819054"/>
            <a:ext cx="11430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Cambria Math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680" y="5028455"/>
            <a:ext cx="227960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4B5A"/>
                </a:solidFill>
                <a:latin typeface="Inter"/>
              </a:rPr>
              <a:t>16</a:t>
            </a:r>
            <a:r>
              <a:rPr sz="900" b="0" i="0">
                <a:solidFill>
                  <a:srgbClr val="004B5A"/>
                </a:solidFill>
                <a:latin typeface="Microsoft YaHei"/>
              </a:rPr>
              <a:t>×</a:t>
            </a:r>
            <a:r>
              <a:rPr sz="900" b="0" i="0">
                <a:solidFill>
                  <a:srgbClr val="004B5A"/>
                </a:solidFill>
                <a:latin typeface="Inter"/>
              </a:rPr>
              <a:t>16 images require 8 qubits (256 pixels)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6790" y="5028455"/>
            <a:ext cx="11430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Cambria Math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680" y="5237857"/>
            <a:ext cx="280213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4B5A"/>
                </a:solidFill>
                <a:latin typeface="Inter"/>
              </a:rPr>
              <a:t>Memory: 2^8 = 256 complex amplitudes per sample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6790" y="5237857"/>
            <a:ext cx="11430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Cambria Math"/>
              </a:rPr>
              <a:t>→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914400" y="10651628"/>
          <a:ext cx="4609951" cy="12876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6650"/>
                <a:gridCol w="1536650"/>
                <a:gridCol w="1536651"/>
              </a:tblGrid>
              <a:tr h="3219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04B5A"/>
                          </a:solidFill>
                          <a:latin typeface="Inter"/>
                        </a:rPr>
                        <a:t>Depth</a:t>
                      </a:r>
                    </a:p>
                  </a:txBody>
                  <a:tcPr anchor="ctr">
                    <a:solidFill>
                      <a:srgbClr val="E5EDEE"/>
                    </a:solidFill>
                    <a:lnB w="9525" cmpd="sng">
                      <a:solidFill>
                        <a:srgbClr val="00708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04B5A"/>
                          </a:solidFill>
                          <a:latin typeface="Inter"/>
                        </a:rPr>
                        <a:t>Gradient Norm (Epoch 1)</a:t>
                      </a:r>
                    </a:p>
                  </a:txBody>
                  <a:tcPr anchor="ctr">
                    <a:solidFill>
                      <a:srgbClr val="E5EDEE"/>
                    </a:solidFill>
                    <a:lnB w="9525" cmpd="sng">
                      <a:solidFill>
                        <a:srgbClr val="00708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04B5A"/>
                          </a:solidFill>
                          <a:latin typeface="Inter"/>
                        </a:rPr>
                        <a:t>Gradient Norm (Epoch 50)</a:t>
                      </a:r>
                    </a:p>
                  </a:txBody>
                  <a:tcPr anchor="ctr">
                    <a:solidFill>
                      <a:srgbClr val="E5EDEE"/>
                    </a:solidFill>
                    <a:lnB w="9525" cmpd="sng">
                      <a:solidFill>
                        <a:srgbClr val="007086"/>
                      </a:solidFill>
                    </a:lnB>
                  </a:tcPr>
                </a:tc>
              </a:tr>
              <a:tr h="3219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04B5A"/>
                          </a:solidFill>
                          <a:latin typeface="Inter"/>
                        </a:rPr>
                        <a:t>2 layers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04B5A"/>
                          </a:solidFill>
                          <a:latin typeface="Inter"/>
                        </a:rPr>
                        <a:t>0.42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04B5A"/>
                          </a:solidFill>
                          <a:latin typeface="Inter"/>
                        </a:rPr>
                        <a:t>0.38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</a:tr>
              <a:tr h="3219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04B5A"/>
                          </a:solidFill>
                          <a:latin typeface="Inter"/>
                        </a:rPr>
                        <a:t>4 layers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04B5A"/>
                          </a:solidFill>
                          <a:latin typeface="Inter"/>
                        </a:rPr>
                        <a:t>0.15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04B5A"/>
                          </a:solidFill>
                          <a:latin typeface="Inter"/>
                        </a:rPr>
                        <a:t>0.02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</a:tr>
              <a:tr h="3219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04B5A"/>
                          </a:solidFill>
                          <a:latin typeface="Inter"/>
                        </a:rPr>
                        <a:t>6 layers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04B5A"/>
                          </a:solidFill>
                          <a:latin typeface="Inter"/>
                        </a:rPr>
                        <a:t>0.03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04B5A"/>
                          </a:solidFill>
                          <a:latin typeface="Inter"/>
                        </a:rPr>
                        <a:t>&lt;0.001</a:t>
                      </a:r>
                    </a:p>
                  </a:txBody>
                  <a:tcPr anchor="ctr">
                    <a:lnB w="9525" cmpd="sng">
                      <a:solidFill>
                        <a:srgbClr val="00E0FF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1019175"/>
            <a:ext cx="5095875" cy="51244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1257300"/>
            <a:ext cx="180975" cy="190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737746" y="1257300"/>
            <a:ext cx="2268735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4B5A"/>
                </a:solidFill>
                <a:latin typeface="Inter"/>
              </a:rPr>
              <a:t>Methodological Constraints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6525" y="1581150"/>
            <a:ext cx="4619625" cy="5429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1300" y="1685925"/>
            <a:ext cx="142875" cy="14287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15732" y="1680120"/>
            <a:ext cx="3806755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Small resolution: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4</a:t>
            </a:r>
            <a:r>
              <a:rPr sz="1019" b="0" i="0">
                <a:solidFill>
                  <a:srgbClr val="004B5A"/>
                </a:solidFill>
                <a:latin typeface="Microsoft YaHei"/>
              </a:rPr>
              <a:t>×</a:t>
            </a:r>
            <a:r>
              <a:rPr sz="1019" b="0" i="0">
                <a:solidFill>
                  <a:srgbClr val="004B5A"/>
                </a:solidFill>
                <a:latin typeface="Inter"/>
              </a:rPr>
              <a:t>4 images too low-resolution for practical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applications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6525" y="2238375"/>
            <a:ext cx="4619625" cy="37147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78662" y="2340471"/>
            <a:ext cx="3608367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Binary classification: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Only 2 digit classes tested (0 and 1)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6525" y="2733675"/>
            <a:ext cx="4619625" cy="3714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91300" y="2838450"/>
            <a:ext cx="123825" cy="14287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98617" y="2832496"/>
            <a:ext cx="3746777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Dataset size: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1,000 samples is small for thorough evaluation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6525" y="3228975"/>
            <a:ext cx="4619625" cy="3714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91300" y="3333750"/>
            <a:ext cx="171450" cy="14287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850112" y="3324522"/>
            <a:ext cx="357756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Inter"/>
              </a:rPr>
              <a:t>Single run: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Results may vary with different random seeds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86525" y="4048125"/>
            <a:ext cx="4619625" cy="1295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617791" y="4180582"/>
            <a:ext cx="1703189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4B5A"/>
                </a:solidFill>
                <a:latin typeface="Inter"/>
              </a:rPr>
              <a:t>Experimental Limitations: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39681" y="4433887"/>
            <a:ext cx="290289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4B5A"/>
                </a:solidFill>
                <a:latin typeface="Inter"/>
              </a:rPr>
              <a:t>No statistical significance testing across multiple runs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17791" y="4433887"/>
            <a:ext cx="11430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Cambria Math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39681" y="4643288"/>
            <a:ext cx="320054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4B5A"/>
                </a:solidFill>
                <a:latin typeface="Inter"/>
              </a:rPr>
              <a:t>Limited comparison with state-of-the-art classical methods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17791" y="4643288"/>
            <a:ext cx="11430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Cambria Math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39681" y="4852689"/>
            <a:ext cx="218792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4B5A"/>
                </a:solidFill>
                <a:latin typeface="Inter"/>
              </a:rPr>
              <a:t>No evaluation on real quantum hardware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17791" y="4852689"/>
            <a:ext cx="11430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Cambria Math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39681" y="5062091"/>
            <a:ext cx="194682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4B5A"/>
                </a:solidFill>
                <a:latin typeface="Inter"/>
              </a:rPr>
              <a:t>Simplified discriminator architecture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17791" y="5062091"/>
            <a:ext cx="11430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B5A"/>
                </a:solidFill>
                <a:latin typeface="Cambria Math"/>
              </a:rPr>
              <a:t>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714500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90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81238" y="228600"/>
            <a:ext cx="5229522" cy="4000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004B5A"/>
                </a:solidFill>
                <a:latin typeface="Inter"/>
              </a:rPr>
              <a:t>Conclusions &amp; Future Directions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1019175"/>
            <a:ext cx="5086350" cy="6610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850" y="1257300"/>
            <a:ext cx="257175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57325" y="1257300"/>
            <a:ext cx="2226171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004B5A"/>
                </a:solidFill>
                <a:latin typeface="Inter"/>
              </a:rPr>
              <a:t>Key Findings Summary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375" y="1676400"/>
            <a:ext cx="4610100" cy="8763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1819275"/>
            <a:ext cx="17145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01080" y="1819126"/>
            <a:ext cx="3918257" cy="5863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4B5A"/>
                </a:solidFill>
                <a:latin typeface="Inter"/>
              </a:rPr>
              <a:t>78</a:t>
            </a:r>
            <a:r>
              <a:rPr sz="1139" b="1" i="0">
                <a:solidFill>
                  <a:srgbClr val="004B5A"/>
                </a:solidFill>
                <a:latin typeface="Microsoft YaHei"/>
              </a:rPr>
              <a:t>× </a:t>
            </a:r>
            <a:r>
              <a:rPr sz="1139" b="1" i="0">
                <a:solidFill>
                  <a:srgbClr val="004B5A"/>
                </a:solidFill>
                <a:latin typeface="Inter"/>
              </a:rPr>
              <a:t>Parameter Efficiency: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Quantum generator achieves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comparable performance with dramatically fewer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parameters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375" y="2667000"/>
            <a:ext cx="4610100" cy="6762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9200" y="2809875"/>
            <a:ext cx="1905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20130" y="2811958"/>
            <a:ext cx="3529072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4B5A"/>
                </a:solidFill>
                <a:latin typeface="Inter"/>
              </a:rPr>
              <a:t>7,000</a:t>
            </a:r>
            <a:r>
              <a:rPr sz="1139" b="1" i="0">
                <a:solidFill>
                  <a:srgbClr val="004B5A"/>
                </a:solidFill>
                <a:latin typeface="Microsoft YaHei"/>
              </a:rPr>
              <a:t>× </a:t>
            </a:r>
            <a:r>
              <a:rPr sz="1139" b="1" i="0">
                <a:solidFill>
                  <a:srgbClr val="004B5A"/>
                </a:solidFill>
                <a:latin typeface="Inter"/>
              </a:rPr>
              <a:t>Training Stability: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Near-zero loss variance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demonstrates superior convergence properties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375" y="3457575"/>
            <a:ext cx="4610100" cy="6762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8725" y="3600450"/>
            <a:ext cx="161925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01080" y="3602087"/>
            <a:ext cx="4067829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4B5A"/>
                </a:solidFill>
                <a:latin typeface="Inter"/>
              </a:rPr>
              <a:t>2.1</a:t>
            </a:r>
            <a:r>
              <a:rPr sz="1139" b="1" i="0">
                <a:solidFill>
                  <a:srgbClr val="004B5A"/>
                </a:solidFill>
                <a:latin typeface="Microsoft YaHei"/>
              </a:rPr>
              <a:t>× </a:t>
            </a:r>
            <a:r>
              <a:rPr sz="1139" b="1" i="0">
                <a:solidFill>
                  <a:srgbClr val="004B5A"/>
                </a:solidFill>
                <a:latin typeface="Inter"/>
              </a:rPr>
              <a:t>Sample Diversity: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Quantum approach produces more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varied and diverse outputs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375" y="4248150"/>
            <a:ext cx="4610100" cy="6762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8725" y="4381500"/>
            <a:ext cx="152400" cy="1619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1080" y="4392215"/>
            <a:ext cx="3716595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4B5A"/>
                </a:solidFill>
                <a:latin typeface="Inter"/>
              </a:rPr>
              <a:t>100% Mode Coverage: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Both approaches avoid mode</a:t>
            </a:r>
            <a:r>
              <a:rPr sz="1139" b="0" i="0">
                <a:solidFill>
                  <a:srgbClr val="004B5A"/>
                </a:solidFill>
                <a:latin typeface="Inter"/>
              </a:rPr>
              <a:t> collapse completely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5375" y="5048250"/>
            <a:ext cx="4610100" cy="23145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57300" y="5214788"/>
            <a:ext cx="169604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Research Implications: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9700" y="5536703"/>
            <a:ext cx="3713142" cy="3336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Quantum generative models offer compelling advantages in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resource-constrained scenarios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7300" y="5536703"/>
            <a:ext cx="129480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Cambria Math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9700" y="5975449"/>
            <a:ext cx="3748266" cy="3336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Parameter efficiency could enable deployment on near-term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quantum devices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7300" y="5975449"/>
            <a:ext cx="129480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Cambria Math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9700" y="6414194"/>
            <a:ext cx="4028807" cy="3336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Training stability suggests quantum ML may be more robust than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classical approaches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7300" y="6414194"/>
            <a:ext cx="129480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Cambria Math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9700" y="6852939"/>
            <a:ext cx="3972698" cy="3336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Higher diversity indicates potential for better exploration of data</a:t>
            </a:r>
            <a:r>
              <a:rPr sz="1019" b="0" i="0">
                <a:solidFill>
                  <a:srgbClr val="004B5A"/>
                </a:solidFill>
                <a:latin typeface="Inter"/>
              </a:rPr>
              <a:t> distributions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7300" y="6852939"/>
            <a:ext cx="129480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Cambria Math"/>
              </a:rPr>
              <a:t>→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1019175"/>
            <a:ext cx="5095875" cy="63531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6525" y="1257300"/>
            <a:ext cx="247650" cy="2190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48475" y="1257300"/>
            <a:ext cx="2612826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004B5A"/>
                </a:solidFill>
                <a:latin typeface="Inter"/>
              </a:rPr>
              <a:t>Future Research Directions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6525" y="1676400"/>
            <a:ext cx="4619625" cy="12763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92230" y="1840110"/>
            <a:ext cx="1924942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Hardware Implementation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48450" y="1857375"/>
            <a:ext cx="152400" cy="152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00850" y="2131516"/>
            <a:ext cx="4126110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Evaluate performance on real quantum devices (IBM, Google, IonQ)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8450" y="2131516"/>
            <a:ext cx="6146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Microsoft YaHe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00850" y="2373659"/>
            <a:ext cx="3132980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Develop noise-resilient quantum GAN architectures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8450" y="2373659"/>
            <a:ext cx="6146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Microsoft YaHe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00850" y="2615803"/>
            <a:ext cx="3320801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Implement error mitigation strategies for NISQ devices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48450" y="2615803"/>
            <a:ext cx="6146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Microsoft YaHei"/>
              </a:rPr>
              <a:t>•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6525" y="3067050"/>
            <a:ext cx="4619625" cy="12763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873180" y="3233291"/>
            <a:ext cx="189368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Scalability &amp; Applications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48450" y="3248025"/>
            <a:ext cx="133350" cy="1524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800850" y="3524696"/>
            <a:ext cx="3293864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Extend to multi-class problems (full MNIST, CIFAR-10)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48450" y="3524696"/>
            <a:ext cx="6146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Microsoft YaHe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00850" y="3766839"/>
            <a:ext cx="2942629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Explore hybrid quantum-classical discriminators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48450" y="3766839"/>
            <a:ext cx="6146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Microsoft YaHei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850" y="4008983"/>
            <a:ext cx="3634680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Investigate quantum advantage in high-dimensional spaces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8450" y="4008983"/>
            <a:ext cx="6146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Microsoft YaHei"/>
              </a:rPr>
              <a:t>•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6525" y="4467225"/>
            <a:ext cx="4619625" cy="127635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892230" y="4626471"/>
            <a:ext cx="1653182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Algorithmic Advances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48450" y="4648200"/>
            <a:ext cx="152400" cy="1524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800850" y="4917876"/>
            <a:ext cx="309428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Design hardware-efficient quantum circuit ansätze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48450" y="4917876"/>
            <a:ext cx="6146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Microsoft YaHei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00850" y="5160019"/>
            <a:ext cx="2772370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Develop barren plateau mitigation techniques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48450" y="5160019"/>
            <a:ext cx="6146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Microsoft YaHei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00850" y="5402163"/>
            <a:ext cx="3345358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Explore quantum Wasserstein GANs and other variants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48450" y="5402163"/>
            <a:ext cx="6146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Microsoft YaHei"/>
              </a:rPr>
              <a:t>•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6525" y="5915025"/>
            <a:ext cx="4619625" cy="127635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892230" y="6076801"/>
            <a:ext cx="203954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B5A"/>
                </a:solidFill>
                <a:latin typeface="Inter"/>
              </a:rPr>
              <a:t>Evaluation &amp; Benchmarking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48450" y="6096000"/>
            <a:ext cx="152400" cy="1524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800850" y="6368206"/>
            <a:ext cx="2905869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Establish quantum ML benchmarking standards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48450" y="6368206"/>
            <a:ext cx="6146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Microsoft YaHei"/>
              </a:rPr>
              <a:t>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00850" y="6610350"/>
            <a:ext cx="3215282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Conduct comprehensive statistical validation studies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48450" y="6610350"/>
            <a:ext cx="6146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Microsoft YaHei"/>
              </a:rPr>
              <a:t>•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00850" y="6852493"/>
            <a:ext cx="3170039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4B5A"/>
                </a:solidFill>
                <a:latin typeface="Inter"/>
              </a:rPr>
              <a:t>Compare against state-of-the-art classical methods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48450" y="6852493"/>
            <a:ext cx="6146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4B5A"/>
                </a:solidFill>
                <a:latin typeface="Microsoft YaHei"/>
              </a:rPr>
              <a:t>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